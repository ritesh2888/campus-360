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Libre Baskerville"/>
      <p:regular r:id="rId12"/>
      <p:bold r:id="rId13"/>
      <p:italic r:id="rId14"/>
      <p:boldItalic r:id="rId15"/>
    </p:embeddedFont>
    <p:embeddedFont>
      <p:font typeface="IBM Plex Mono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LibreBaskerville-regular.fntdata"/><Relationship Id="rId13" Type="http://schemas.openxmlformats.org/officeDocument/2006/relationships/font" Target="fonts/LibreBaskerville-bold.fntdata"/><Relationship Id="rId14" Type="http://schemas.openxmlformats.org/officeDocument/2006/relationships/font" Target="fonts/LibreBaskerville-italic.fntdata"/><Relationship Id="rId15" Type="http://schemas.openxmlformats.org/officeDocument/2006/relationships/font" Target="fonts/LibreBaskerville-boldItalic.fntdata"/><Relationship Id="rId16" Type="http://schemas.openxmlformats.org/officeDocument/2006/relationships/font" Target="fonts/IBMPlexMono-bold.fntdata"/><Relationship Id="rId17" Type="http://schemas.openxmlformats.org/officeDocument/2006/relationships/font" Target="fonts/IBMPlexMon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13341723" y="188798"/>
            <a:ext cx="1204279" cy="1213862"/>
            <a:chOff x="0" y="0"/>
            <a:chExt cx="1605706" cy="1618483"/>
          </a:xfrm>
        </p:grpSpPr>
        <p:grpSp>
          <p:nvGrpSpPr>
            <p:cNvPr id="85" name="Google Shape;85;p13"/>
            <p:cNvGrpSpPr/>
            <p:nvPr/>
          </p:nvGrpSpPr>
          <p:grpSpPr>
            <a:xfrm>
              <a:off x="87692" y="55104"/>
              <a:ext cx="1435352" cy="1435352"/>
              <a:chOff x="0" y="0"/>
              <a:chExt cx="812800" cy="812800"/>
            </a:xfrm>
          </p:grpSpPr>
          <p:sp>
            <p:nvSpPr>
              <p:cNvPr id="86" name="Google Shape;86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" name="Google Shape;88;p13"/>
            <p:cNvSpPr/>
            <p:nvPr/>
          </p:nvSpPr>
          <p:spPr>
            <a:xfrm>
              <a:off x="0" y="0"/>
              <a:ext cx="1605706" cy="1618483"/>
            </a:xfrm>
            <a:custGeom>
              <a:rect b="b" l="l" r="r" t="t"/>
              <a:pathLst>
                <a:path extrusionOk="0" h="1618483" w="1605706">
                  <a:moveTo>
                    <a:pt x="0" y="0"/>
                  </a:moveTo>
                  <a:lnTo>
                    <a:pt x="1605706" y="0"/>
                  </a:lnTo>
                  <a:lnTo>
                    <a:pt x="1605706" y="1618483"/>
                  </a:lnTo>
                  <a:lnTo>
                    <a:pt x="0" y="16184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89" name="Google Shape;89;p13"/>
          <p:cNvSpPr/>
          <p:nvPr/>
        </p:nvSpPr>
        <p:spPr>
          <a:xfrm>
            <a:off x="14837583" y="0"/>
            <a:ext cx="3261238" cy="1591459"/>
          </a:xfrm>
          <a:custGeom>
            <a:rect b="b" l="l" r="r" t="t"/>
            <a:pathLst>
              <a:path extrusionOk="0" h="1591459" w="3261238">
                <a:moveTo>
                  <a:pt x="0" y="0"/>
                </a:moveTo>
                <a:lnTo>
                  <a:pt x="3261237" y="0"/>
                </a:lnTo>
                <a:lnTo>
                  <a:pt x="3261237" y="1591459"/>
                </a:lnTo>
                <a:lnTo>
                  <a:pt x="0" y="1591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90" name="Google Shape;90;p13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91" name="Google Shape;91;p13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F2F24"/>
            </a:solidFill>
            <a:ln>
              <a:noFill/>
            </a:ln>
          </p:spPr>
        </p:sp>
        <p:sp>
          <p:nvSpPr>
            <p:cNvPr id="92" name="Google Shape;92;p13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3"/>
          <p:cNvSpPr/>
          <p:nvPr/>
        </p:nvSpPr>
        <p:spPr>
          <a:xfrm>
            <a:off x="10805445" y="1181233"/>
            <a:ext cx="6453855" cy="8077067"/>
          </a:xfrm>
          <a:custGeom>
            <a:rect b="b" l="l" r="r" t="t"/>
            <a:pathLst>
              <a:path extrusionOk="0" h="8077067" w="6453855">
                <a:moveTo>
                  <a:pt x="0" y="0"/>
                </a:moveTo>
                <a:lnTo>
                  <a:pt x="6453855" y="0"/>
                </a:lnTo>
                <a:lnTo>
                  <a:pt x="6453855" y="8077067"/>
                </a:lnTo>
                <a:lnTo>
                  <a:pt x="0" y="8077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82000"/>
            </a:blip>
            <a:stretch>
              <a:fillRect b="-42049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94" name="Google Shape;94;p13"/>
          <p:cNvSpPr/>
          <p:nvPr/>
        </p:nvSpPr>
        <p:spPr>
          <a:xfrm>
            <a:off x="751699" y="44647"/>
            <a:ext cx="6536135" cy="3676576"/>
          </a:xfrm>
          <a:custGeom>
            <a:rect b="b" l="l" r="r" t="t"/>
            <a:pathLst>
              <a:path extrusionOk="0" h="3676576" w="6536135">
                <a:moveTo>
                  <a:pt x="0" y="0"/>
                </a:moveTo>
                <a:lnTo>
                  <a:pt x="6536135" y="0"/>
                </a:lnTo>
                <a:lnTo>
                  <a:pt x="6536135" y="3676576"/>
                </a:lnTo>
                <a:lnTo>
                  <a:pt x="0" y="3676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95" name="Google Shape;95;p13"/>
          <p:cNvSpPr txBox="1"/>
          <p:nvPr/>
        </p:nvSpPr>
        <p:spPr>
          <a:xfrm>
            <a:off x="766837" y="6069797"/>
            <a:ext cx="9392125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MEMBERS:-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51699" y="3220359"/>
            <a:ext cx="3656301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TRACK:- EVA 02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51699" y="4169635"/>
            <a:ext cx="9407263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IBM Plex Mono"/>
              </a:defRPr>
            </a:pPr>
            <a:r>
              <a:t>PROBLEM STATEMENT ID:- PS-02 (Campus 360)</a:t>
            </a:r>
          </a:p>
        </p:txBody>
      </p:sp>
      <p:sp>
        <p:nvSpPr>
          <p:cNvPr id="98" name="Google Shape;98;p13"/>
          <p:cNvSpPr txBox="1"/>
          <p:nvPr/>
        </p:nvSpPr>
        <p:spPr>
          <a:xfrm>
            <a:off x="751699" y="5119716"/>
            <a:ext cx="9407263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>
              <a:defRPr sz="2000" b="1">
                <a:solidFill>
                  <a:srgbClr val="4338CA"/>
                </a:solidFill>
                <a:latin typeface="IBM Plex Mono"/>
              </a:defRPr>
            </a:pPr>
            <a:r>
              <a:t>TEAM NAME:- Campus360</a:t>
            </a:r>
          </a:p>
        </p:txBody>
      </p:sp>
      <p:sp>
        <p:nvSpPr>
          <p:cNvPr id="99" name="Google Shape;99;p13"/>
          <p:cNvSpPr txBox="1"/>
          <p:nvPr/>
        </p:nvSpPr>
        <p:spPr>
          <a:xfrm>
            <a:off x="4892840" y="6069797"/>
            <a:ext cx="5266122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IBM Plex Mono"/>
              </a:defRPr>
            </a:pPr>
            <a:r>
              <a:t>Ritesh Yadav (Leader) | Roll: 62 (EXTC - D4B)</a:t>
            </a:r>
          </a:p>
        </p:txBody>
      </p:sp>
      <p:sp>
        <p:nvSpPr>
          <p:cNvPr id="100" name="Google Shape;100;p13"/>
          <p:cNvSpPr txBox="1"/>
          <p:nvPr/>
        </p:nvSpPr>
        <p:spPr>
          <a:xfrm>
            <a:off x="4892840" y="6685393"/>
            <a:ext cx="5266122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IBM Plex Mono"/>
              </a:defRPr>
            </a:pPr>
            <a:r>
              <a:t>Team Member 2 | First Year Engineering (FE)</a:t>
            </a:r>
          </a:p>
        </p:txBody>
      </p:sp>
      <p:sp>
        <p:nvSpPr>
          <p:cNvPr id="101" name="Google Shape;101;p13"/>
          <p:cNvSpPr txBox="1"/>
          <p:nvPr/>
        </p:nvSpPr>
        <p:spPr>
          <a:xfrm>
            <a:off x="4892840" y="7300988"/>
            <a:ext cx="5266122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IBM Plex Mono"/>
              </a:defRPr>
            </a:pPr>
            <a:r>
              <a:t>Team Member 3 | First Year Engineering (FE)</a:t>
            </a:r>
          </a:p>
        </p:txBody>
      </p:sp>
      <p:sp>
        <p:nvSpPr>
          <p:cNvPr id="102" name="Google Shape;102;p13"/>
          <p:cNvSpPr txBox="1"/>
          <p:nvPr/>
        </p:nvSpPr>
        <p:spPr>
          <a:xfrm>
            <a:off x="4892840" y="7916584"/>
            <a:ext cx="5266122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IBM Plex Mono"/>
              </a:defRPr>
            </a:pPr>
            <a:r>
              <a:t>Team Member 4 | First Year Engineering (FE)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/>
        </p:nvSpPr>
        <p:spPr>
          <a:xfrm>
            <a:off x="1294033" y="2070920"/>
            <a:ext cx="15699934" cy="3580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3399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endParaRPr/>
          </a:p>
        </p:txBody>
      </p:sp>
      <p:grpSp>
        <p:nvGrpSpPr>
          <p:cNvPr id="108" name="Google Shape;108;p14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F2F24"/>
            </a:solidFill>
            <a:ln>
              <a:noFill/>
            </a:ln>
          </p:spPr>
        </p:sp>
        <p:sp>
          <p:nvSpPr>
            <p:cNvPr id="110" name="Google Shape;110;p1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4"/>
          <p:cNvGrpSpPr/>
          <p:nvPr/>
        </p:nvGrpSpPr>
        <p:grpSpPr>
          <a:xfrm>
            <a:off x="191375" y="118562"/>
            <a:ext cx="1284036" cy="1294254"/>
            <a:chOff x="0" y="0"/>
            <a:chExt cx="1712048" cy="1725672"/>
          </a:xfrm>
        </p:grpSpPr>
        <p:grpSp>
          <p:nvGrpSpPr>
            <p:cNvPr id="112" name="Google Shape;112;p14"/>
            <p:cNvGrpSpPr/>
            <p:nvPr/>
          </p:nvGrpSpPr>
          <p:grpSpPr>
            <a:xfrm>
              <a:off x="93500" y="58754"/>
              <a:ext cx="1530413" cy="1530413"/>
              <a:chOff x="0" y="0"/>
              <a:chExt cx="812800" cy="812800"/>
            </a:xfrm>
          </p:grpSpPr>
          <p:sp>
            <p:nvSpPr>
              <p:cNvPr id="113" name="Google Shape;113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4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50" lIns="25450" spcFirstLastPara="1" rIns="25450" wrap="square" tIns="2545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" name="Google Shape;115;p14"/>
            <p:cNvSpPr/>
            <p:nvPr/>
          </p:nvSpPr>
          <p:spPr>
            <a:xfrm>
              <a:off x="0" y="0"/>
              <a:ext cx="1712048" cy="1725672"/>
            </a:xfrm>
            <a:custGeom>
              <a:rect b="b" l="l" r="r" t="t"/>
              <a:pathLst>
                <a:path extrusionOk="0" h="1725672" w="1712048">
                  <a:moveTo>
                    <a:pt x="0" y="0"/>
                  </a:moveTo>
                  <a:lnTo>
                    <a:pt x="1712048" y="0"/>
                  </a:lnTo>
                  <a:lnTo>
                    <a:pt x="1712048" y="1725672"/>
                  </a:lnTo>
                  <a:lnTo>
                    <a:pt x="0" y="17256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16" name="Google Shape;116;p14"/>
          <p:cNvSpPr/>
          <p:nvPr/>
        </p:nvSpPr>
        <p:spPr>
          <a:xfrm>
            <a:off x="16367044" y="118562"/>
            <a:ext cx="2229573" cy="1254135"/>
          </a:xfrm>
          <a:custGeom>
            <a:rect b="b" l="l" r="r" t="t"/>
            <a:pathLst>
              <a:path extrusionOk="0" h="1254135" w="2229573">
                <a:moveTo>
                  <a:pt x="0" y="0"/>
                </a:moveTo>
                <a:lnTo>
                  <a:pt x="2229573" y="0"/>
                </a:lnTo>
                <a:lnTo>
                  <a:pt x="2229573" y="1254135"/>
                </a:lnTo>
                <a:lnTo>
                  <a:pt x="0" y="12541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17" name="Google Shape;117;p14"/>
          <p:cNvSpPr/>
          <p:nvPr/>
        </p:nvSpPr>
        <p:spPr>
          <a:xfrm>
            <a:off x="2601885" y="1463560"/>
            <a:ext cx="13084230" cy="7359879"/>
          </a:xfrm>
          <a:custGeom>
            <a:rect b="b" l="l" r="r" t="t"/>
            <a:pathLst>
              <a:path extrusionOk="0"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"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18" name="Google Shape;118;p14"/>
          <p:cNvSpPr txBox="1"/>
          <p:nvPr/>
        </p:nvSpPr>
        <p:spPr>
          <a:xfrm>
            <a:off x="5242694" y="375193"/>
            <a:ext cx="7802612" cy="103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23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PROPOSED SOLUTION</a:t>
            </a:r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914400" y="1691640"/>
            <a:ext cx="5120640" cy="649224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</a:p>
          <a:p>
            <a:pPr>
              <a:spcAft>
                <a:spcPts val="800"/>
              </a:spcAft>
              <a:defRPr sz="1500" b="1">
                <a:solidFill>
                  <a:srgbClr val="BE123C"/>
                </a:solidFill>
                <a:latin typeface="IBM Plex Mono"/>
              </a:defRPr>
            </a:pPr>
            <a:r>
              <a:t>PROBLEM DEFINITION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Freshers face 3 critical transition hurdles in autonomous college life:</a:t>
            </a:r>
          </a:p>
          <a:p>
            <a:pPr>
              <a:spcAft>
                <a:spcPts val="200"/>
              </a:spcAft>
              <a:defRPr sz="1200" b="1">
                <a:solidFill>
                  <a:srgbClr val="BE123C"/>
                </a:solidFill>
                <a:latin typeface="Arial"/>
              </a:defRPr>
            </a:pPr>
            <a:r>
              <a:t>1. Academic Confusion &amp; Blindspots</a:t>
            </a:r>
          </a:p>
          <a:p>
            <a:pPr>
              <a:spcAft>
                <a:spcPts val="8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Mumbai University autonomous 10-point credit scheme is confusing. Students struggle to balance internal marks (out of 40/25) vs end-sem requirements (out of 60/75), realizing too late when grades are mathematically locked.</a:t>
            </a:r>
          </a:p>
          <a:p>
            <a:pPr>
              <a:spcAft>
                <a:spcPts val="200"/>
              </a:spcAft>
              <a:defRPr sz="1200" b="1">
                <a:solidFill>
                  <a:srgbClr val="BE123C"/>
                </a:solidFill>
                <a:latin typeface="Arial"/>
              </a:defRPr>
            </a:pPr>
            <a:r>
              <a:t>2. Campus Disorientation &amp; Siloed Life</a:t>
            </a:r>
          </a:p>
          <a:p>
            <a:pPr>
              <a:spcAft>
                <a:spcPts val="8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12 different division schedules across multiple floors/wings, unfamiliar faculty, room switches (B22, 523, 405), and lack of senior academic mentorship.</a:t>
            </a:r>
          </a:p>
          <a:p>
            <a:pPr>
              <a:spcAft>
                <a:spcPts val="200"/>
              </a:spcAft>
              <a:defRPr sz="1200" b="1">
                <a:solidFill>
                  <a:srgbClr val="BE123C"/>
                </a:solidFill>
                <a:latin typeface="Arial"/>
              </a:defRPr>
            </a:pPr>
            <a:r>
              <a:t>3. Commute Stress &amp; Fragmented Tools</a:t>
            </a:r>
          </a:p>
          <a:p>
            <a:pPr>
              <a:spcAft>
                <a:spcPts val="8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Exhausting auto lines from Chembur/Kurla stations, absence of verified peer carpooling, and critical campus updates buried in chaotic WhatsApp groups.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Target Beneficiaries:</a:t>
            </a:r>
          </a:p>
          <a:p>
            <a:pPr>
              <a:spcAft>
                <a:spcPts val="2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First-Year Students (FE) as primary users; Seniors (SE/TE/BE) as verified tutors &amp; carpool hosts; Faculty &amp; Class Representatives as challenge moderators.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217920" y="1691640"/>
            <a:ext cx="5394960" cy="6492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</a:p>
          <a:p>
            <a:pPr>
              <a:spcAft>
                <a:spcPts val="800"/>
              </a:spcAft>
              <a:defRPr sz="1500" b="1">
                <a:solidFill>
                  <a:srgbClr val="4338CA"/>
                </a:solidFill>
                <a:latin typeface="IBM Plex Mono"/>
              </a:defRPr>
            </a:pPr>
            <a:r>
              <a:t>PROPOSED SOLUTION: CAMPUS 360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A unified, intelligent web companion built specifically for First-Year engineering students:</a:t>
            </a:r>
          </a:p>
          <a:p>
            <a:pPr>
              <a:spcAft>
                <a:spcPts val="200"/>
              </a:spcAft>
              <a:defRPr sz="1200" b="1">
                <a:solidFill>
                  <a:srgbClr val="4338CA"/>
                </a:solidFill>
                <a:latin typeface="Arial"/>
              </a:defRPr>
            </a:pPr>
            <a:r>
              <a:t>• Unified 8-in-1 Daily Ecosystem</a:t>
            </a:r>
          </a:p>
          <a:p>
            <a:pPr>
              <a:spcAft>
                <a:spcPts val="8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Eliminates scattered tools by uniting Academic Math, Dynamic Timetable, Carpooling, Peer Barter, Leaderboard, Directory, Events, and Phone Auth under one responsive dashboard.</a:t>
            </a:r>
          </a:p>
          <a:p>
            <a:pPr>
              <a:spcAft>
                <a:spcPts val="200"/>
              </a:spcAft>
              <a:defRPr sz="1200" b="1">
                <a:solidFill>
                  <a:srgbClr val="4338CA"/>
                </a:solidFill>
                <a:latin typeface="Arial"/>
              </a:defRPr>
            </a:pPr>
            <a:r>
              <a:t>• Proactive Cross-Module Intelligence</a:t>
            </a:r>
          </a:p>
          <a:p>
            <a:pPr>
              <a:spcAft>
                <a:spcPts val="8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Modules talk to each other: an academic alert in Mechanics automatically suggests booking an available senior peer tutor; commuter alerts match station carpools.</a:t>
            </a:r>
          </a:p>
          <a:p>
            <a:pPr>
              <a:spcAft>
                <a:spcPts val="200"/>
              </a:spcAft>
              <a:defRPr sz="1200" b="1">
                <a:solidFill>
                  <a:srgbClr val="4338CA"/>
                </a:solidFill>
                <a:latin typeface="Arial"/>
              </a:defRPr>
            </a:pPr>
            <a:r>
              <a:t>• Built on Real College Data</a:t>
            </a:r>
          </a:p>
          <a:p>
            <a:pPr>
              <a:spcAft>
                <a:spcPts val="8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Pre-loaded with official VESIT 2026-27 Semester 1 division allotments, classroom rooms (B22, 524, 518), and faculty directory (Dr. Ravi Shankar, Mrs. Nusrat, etc.).</a:t>
            </a:r>
          </a:p>
          <a:p>
            <a:pPr>
              <a:spcAft>
                <a:spcPts val="200"/>
              </a:spcAft>
              <a:defRPr sz="1200" b="1">
                <a:solidFill>
                  <a:srgbClr val="4338CA"/>
                </a:solidFill>
                <a:latin typeface="Arial"/>
              </a:defRPr>
            </a:pPr>
            <a:r>
              <a:t>• Inclusive Cross-Year Continuity</a:t>
            </a:r>
          </a:p>
          <a:p>
            <a:pPr>
              <a:spcAft>
                <a:spcPts val="2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Supports FE freshers and SE/TE/BE senior mentors, ensuring long-term utility across all 4 engineering years.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1795760" y="1691640"/>
            <a:ext cx="5577840" cy="6492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</a:p>
          <a:p>
            <a:pPr>
              <a:spcAft>
                <a:spcPts val="800"/>
              </a:spcAft>
              <a:defRPr sz="1500" b="1">
                <a:solidFill>
                  <a:srgbClr val="6D28D9"/>
                </a:solidFill>
                <a:latin typeface="IBM Plex Mono"/>
              </a:defRPr>
            </a:pPr>
            <a:r>
              <a:t>KEY FEATURES &amp; UNIQUE ADVANTAGES</a:t>
            </a:r>
          </a:p>
          <a:p>
            <a:pPr>
              <a:spcAft>
                <a:spcPts val="1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1. Academic Planner &amp; SGPA Engine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Computes exact End-Sem marks required for target SGPA (4-10 scale); automatically locks unreachable grades when internal marks drop.</a:t>
            </a:r>
          </a:p>
          <a:p>
            <a:pPr>
              <a:spcAft>
                <a:spcPts val="1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2. Dynamic Division Timetable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Real-time Mon-Fri timetable across all 12 Sem 1 divisions, with classrooms, batch practicals (Workshop 008, Lab 406), and faculty names.</a:t>
            </a:r>
          </a:p>
          <a:p>
            <a:pPr>
              <a:spcAft>
                <a:spcPts val="1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3. Peer Learning Time-Credit Bank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Zero-cash barter economy: 1 hour teach = +1 credit, 1 hour learn = -1 credit. Seniors mentor juniors safely without monetary transactions.</a:t>
            </a:r>
          </a:p>
          <a:p>
            <a:pPr>
              <a:spcAft>
                <a:spcPts val="1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4. Interactive Commute &amp; Station Carpool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Leaflet OpenStreetMap connects Chembur/Kurla stations to VESIT with verified seat requests and 'Host a Ride' system.</a:t>
            </a:r>
          </a:p>
          <a:p>
            <a:pPr>
              <a:spcAft>
                <a:spcPts val="200"/>
              </a:spcAft>
              <a:defRPr sz="1150" b="1">
                <a:solidFill>
                  <a:srgbClr val="6D28D9"/>
                </a:solidFill>
                <a:latin typeface="Arial"/>
              </a:defRPr>
            </a:pPr>
            <a:r>
              <a:t>USP (Unique Selling Proposition):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Zero-friction MiniMoth Phone OTP + mathematically accurate MU grade solver + authentic college timetable automation. Not just a static concept—a production-grade working web 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124" name="Google Shape;124;p15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F2F24"/>
            </a:solidFill>
            <a:ln>
              <a:noFill/>
            </a:ln>
          </p:spPr>
        </p:sp>
        <p:sp>
          <p:nvSpPr>
            <p:cNvPr id="125" name="Google Shape;125;p15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15"/>
          <p:cNvGrpSpPr/>
          <p:nvPr/>
        </p:nvGrpSpPr>
        <p:grpSpPr>
          <a:xfrm>
            <a:off x="191375" y="118562"/>
            <a:ext cx="1292532" cy="1302817"/>
            <a:chOff x="0" y="0"/>
            <a:chExt cx="1723376" cy="1737090"/>
          </a:xfrm>
        </p:grpSpPr>
        <p:grpSp>
          <p:nvGrpSpPr>
            <p:cNvPr id="127" name="Google Shape;127;p15"/>
            <p:cNvGrpSpPr/>
            <p:nvPr/>
          </p:nvGrpSpPr>
          <p:grpSpPr>
            <a:xfrm>
              <a:off x="94119" y="59143"/>
              <a:ext cx="1540538" cy="1540538"/>
              <a:chOff x="0" y="0"/>
              <a:chExt cx="812800" cy="812800"/>
            </a:xfrm>
          </p:grpSpPr>
          <p:sp>
            <p:nvSpPr>
              <p:cNvPr id="128" name="Google Shape;128;p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1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50" lIns="25450" spcFirstLastPara="1" rIns="25450" wrap="square" tIns="2545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0" name="Google Shape;130;p15"/>
            <p:cNvSpPr/>
            <p:nvPr/>
          </p:nvSpPr>
          <p:spPr>
            <a:xfrm>
              <a:off x="0" y="0"/>
              <a:ext cx="1723376" cy="1737090"/>
            </a:xfrm>
            <a:custGeom>
              <a:rect b="b" l="l" r="r" t="t"/>
              <a:pathLst>
                <a:path extrusionOk="0" h="1737090" w="1723376">
                  <a:moveTo>
                    <a:pt x="0" y="0"/>
                  </a:moveTo>
                  <a:lnTo>
                    <a:pt x="1723376" y="0"/>
                  </a:lnTo>
                  <a:lnTo>
                    <a:pt x="1723376" y="1737090"/>
                  </a:lnTo>
                  <a:lnTo>
                    <a:pt x="0" y="17370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31" name="Google Shape;131;p15"/>
          <p:cNvSpPr txBox="1"/>
          <p:nvPr/>
        </p:nvSpPr>
        <p:spPr>
          <a:xfrm>
            <a:off x="5013201" y="375193"/>
            <a:ext cx="8261598" cy="103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23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TECHNICAL APPROACH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294033" y="2287757"/>
            <a:ext cx="15699934" cy="3580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2601885" y="1463560"/>
            <a:ext cx="13084230" cy="7359879"/>
          </a:xfrm>
          <a:custGeom>
            <a:rect b="b" l="l" r="r" t="t"/>
            <a:pathLst>
              <a:path extrusionOk="0"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"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34" name="Google Shape;134;p15"/>
          <p:cNvSpPr/>
          <p:nvPr/>
        </p:nvSpPr>
        <p:spPr>
          <a:xfrm>
            <a:off x="16367044" y="118562"/>
            <a:ext cx="2229573" cy="1254135"/>
          </a:xfrm>
          <a:custGeom>
            <a:rect b="b" l="l" r="r" t="t"/>
            <a:pathLst>
              <a:path extrusionOk="0" h="1254135" w="2229573">
                <a:moveTo>
                  <a:pt x="0" y="0"/>
                </a:moveTo>
                <a:lnTo>
                  <a:pt x="2229573" y="0"/>
                </a:lnTo>
                <a:lnTo>
                  <a:pt x="2229573" y="1254135"/>
                </a:lnTo>
                <a:lnTo>
                  <a:pt x="0" y="12541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35" name="Rounded Rectangle 134"/>
          <p:cNvSpPr/>
          <p:nvPr/>
        </p:nvSpPr>
        <p:spPr>
          <a:xfrm>
            <a:off x="914400" y="1691640"/>
            <a:ext cx="7863840" cy="6492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</a:p>
          <a:p>
            <a:pPr>
              <a:spcAft>
                <a:spcPts val="1000"/>
              </a:spcAft>
              <a:defRPr sz="1500" b="1">
                <a:solidFill>
                  <a:srgbClr val="4338CA"/>
                </a:solidFill>
                <a:latin typeface="IBM Plex Mono"/>
              </a:defRPr>
            </a:pPr>
            <a:r>
              <a:t>TECH STACK &amp; SELECTION JUSTIFICATION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React 19 + TypeScript (Frontend Core)</a:t>
            </a:r>
          </a:p>
          <a:p>
            <a:pPr>
              <a:spcAft>
                <a:spcPts val="8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Justification: Provides compile-time type safety across complex academic data structures, instantaneous virtual DOM updates, and robust component reusability.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Tailwind CSS v4 + Lucide Icons (Styling System)</a:t>
            </a:r>
          </a:p>
          <a:p>
            <a:pPr>
              <a:spcAft>
                <a:spcPts val="8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Justification: Zero-runtime utility CSS engine enabling soft, accessible color palettes with built-in persistent Light and Dark theme toggling.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Leaflet.js + OpenStreetMap (GIS &amp; Maps)</a:t>
            </a:r>
          </a:p>
          <a:p>
            <a:pPr>
              <a:spcAft>
                <a:spcPts val="8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Justification: High-performance interactive client-side vector mapping without costly proprietary Google Maps API keys or billing limits.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MiniMoth SDK (Sponsor Authentication)</a:t>
            </a:r>
          </a:p>
          <a:p>
            <a:pPr>
              <a:spcAft>
                <a:spcPts val="8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Justification: Serverless Phone OTP authentication specifically tailored for Indian developers with JWT access/refresh token rotation and instant demo sandboxing.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Vite 8 &amp; Reactive Context API (State &amp; Build)</a:t>
            </a:r>
          </a:p>
          <a:p>
            <a:pPr>
              <a:spcAft>
                <a:spcPts val="2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Justification: Sub-second hot module reloading, optimized 150kB gzipped production bundles, and offline-first LocalStorage synchronization.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961120" y="1691640"/>
            <a:ext cx="8412480" cy="6492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</a:p>
          <a:p>
            <a:pPr>
              <a:spcAft>
                <a:spcPts val="800"/>
              </a:spcAft>
              <a:defRPr sz="1500" b="1">
                <a:solidFill>
                  <a:srgbClr val="6D28D9"/>
                </a:solidFill>
                <a:latin typeface="IBM Plex Mono"/>
              </a:defRPr>
            </a:pPr>
            <a:r>
              <a:t>SYSTEM ARCHITECTURE &amp; DATA FLOW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System Architecture Hierarchy:</a:t>
            </a:r>
          </a:p>
          <a:p>
            <a:pPr>
              <a:spcAft>
                <a:spcPts val="100"/>
              </a:spcAft>
              <a:defRPr sz="1100" b="1">
                <a:solidFill>
                  <a:srgbClr val="4338CA"/>
                </a:solidFill>
                <a:latin typeface="Arial"/>
              </a:defRPr>
            </a:pPr>
            <a:r>
              <a:t>▸ 1. Presentation Layer</a:t>
            </a:r>
          </a:p>
          <a:p>
            <a:pPr>
              <a:spcAft>
                <a:spcPts val="5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   Responsive UI (Dashboard, SGPA Planner, Timetable, Carpool Map, Peer Bank, Guide, Events, Profile) + Theme Switcher</a:t>
            </a:r>
          </a:p>
          <a:p>
            <a:pPr>
              <a:spcAft>
                <a:spcPts val="100"/>
              </a:spcAft>
              <a:defRPr sz="1100" b="1">
                <a:solidFill>
                  <a:srgbClr val="4338CA"/>
                </a:solidFill>
                <a:latin typeface="Arial"/>
              </a:defRPr>
            </a:pPr>
            <a:r>
              <a:t>▸ 2. State &amp; Auth Engine</a:t>
            </a:r>
          </a:p>
          <a:p>
            <a:pPr>
              <a:spcAft>
                <a:spcPts val="5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   CampusContext Provider + MiniMoth JWT Session Token Service (Login, Token Refresh, Role Verification)</a:t>
            </a:r>
          </a:p>
          <a:p>
            <a:pPr>
              <a:spcAft>
                <a:spcPts val="100"/>
              </a:spcAft>
              <a:defRPr sz="1100" b="1">
                <a:solidFill>
                  <a:srgbClr val="4338CA"/>
                </a:solidFill>
                <a:latin typeface="Arial"/>
              </a:defRPr>
            </a:pPr>
            <a:r>
              <a:t>▸ 3. Business Logic Engines</a:t>
            </a:r>
          </a:p>
          <a:p>
            <a:pPr>
              <a:spcAft>
                <a:spcPts val="5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   Academic Grade Calculator (MU 10-pt Math) + Timetable Engine (12 Divisions) + Leaflet GIS + Barter Economy</a:t>
            </a:r>
          </a:p>
          <a:p>
            <a:pPr>
              <a:spcAft>
                <a:spcPts val="100"/>
              </a:spcAft>
              <a:defRPr sz="1100" b="1">
                <a:solidFill>
                  <a:srgbClr val="4338CA"/>
                </a:solidFill>
                <a:latin typeface="Arial"/>
              </a:defRPr>
            </a:pPr>
            <a:r>
              <a:t>▸ 4. Data &amp; Persistence Layer</a:t>
            </a:r>
          </a:p>
          <a:p>
            <a:pPr>
              <a:spcAft>
                <a:spcPts val="5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   LocalStorage Persistence Cache + MiniMoth Serverless API + OpenStreetMap Tile Servers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Data Flow &amp; Processing Lifecycle:</a:t>
            </a:r>
          </a:p>
          <a:p>
            <a:pPr>
              <a:spcAft>
                <a:spcPts val="3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1. User Input: Student enters phone OTP, changes division to D4B, or adjusts internal test score.</a:t>
            </a:r>
          </a:p>
          <a:p>
            <a:pPr>
              <a:spcAft>
                <a:spcPts val="3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2. State Mutation: CampusContext processes action, executes pure calculation functions, and validates bounds.</a:t>
            </a:r>
          </a:p>
          <a:p>
            <a:pPr>
              <a:spcAft>
                <a:spcPts val="3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3. Cross-Module Trigger: High risk in FEC104 (Mechanics) raises automated dashboard alert &amp; peer tutor recommendation.</a:t>
            </a:r>
          </a:p>
          <a:p>
            <a:pPr>
              <a:spcAft>
                <a:spcPts val="2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4. Persistence: Data is serialized into browser LocalStorage, ensuring zero state loss on page refresh.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6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140" name="Google Shape;140;p16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F2F24"/>
            </a:solidFill>
            <a:ln>
              <a:noFill/>
            </a:ln>
          </p:spPr>
        </p:sp>
        <p:sp>
          <p:nvSpPr>
            <p:cNvPr id="141" name="Google Shape;141;p16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6"/>
          <p:cNvGrpSpPr/>
          <p:nvPr/>
        </p:nvGrpSpPr>
        <p:grpSpPr>
          <a:xfrm>
            <a:off x="191375" y="118562"/>
            <a:ext cx="1292532" cy="1302817"/>
            <a:chOff x="0" y="0"/>
            <a:chExt cx="1723376" cy="1737090"/>
          </a:xfrm>
        </p:grpSpPr>
        <p:grpSp>
          <p:nvGrpSpPr>
            <p:cNvPr id="143" name="Google Shape;143;p16"/>
            <p:cNvGrpSpPr/>
            <p:nvPr/>
          </p:nvGrpSpPr>
          <p:grpSpPr>
            <a:xfrm>
              <a:off x="94119" y="59143"/>
              <a:ext cx="1540538" cy="1540538"/>
              <a:chOff x="0" y="0"/>
              <a:chExt cx="812800" cy="812800"/>
            </a:xfrm>
          </p:grpSpPr>
          <p:sp>
            <p:nvSpPr>
              <p:cNvPr id="144" name="Google Shape;144;p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50" lIns="25450" spcFirstLastPara="1" rIns="25450" wrap="square" tIns="2545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6" name="Google Shape;146;p16"/>
            <p:cNvSpPr/>
            <p:nvPr/>
          </p:nvSpPr>
          <p:spPr>
            <a:xfrm>
              <a:off x="0" y="0"/>
              <a:ext cx="1723376" cy="1737090"/>
            </a:xfrm>
            <a:custGeom>
              <a:rect b="b" l="l" r="r" t="t"/>
              <a:pathLst>
                <a:path extrusionOk="0" h="1737090" w="1723376">
                  <a:moveTo>
                    <a:pt x="0" y="0"/>
                  </a:moveTo>
                  <a:lnTo>
                    <a:pt x="1723376" y="0"/>
                  </a:lnTo>
                  <a:lnTo>
                    <a:pt x="1723376" y="1737090"/>
                  </a:lnTo>
                  <a:lnTo>
                    <a:pt x="0" y="17370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47" name="Google Shape;147;p16"/>
          <p:cNvSpPr txBox="1"/>
          <p:nvPr/>
        </p:nvSpPr>
        <p:spPr>
          <a:xfrm>
            <a:off x="4786741" y="383756"/>
            <a:ext cx="8755743" cy="103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23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END TO END WORKFLOW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297140" y="2307564"/>
            <a:ext cx="15699934" cy="238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2601885" y="1463560"/>
            <a:ext cx="13084230" cy="7359879"/>
          </a:xfrm>
          <a:custGeom>
            <a:rect b="b" l="l" r="r" t="t"/>
            <a:pathLst>
              <a:path extrusionOk="0"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"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50" name="Google Shape;150;p16"/>
          <p:cNvSpPr/>
          <p:nvPr/>
        </p:nvSpPr>
        <p:spPr>
          <a:xfrm>
            <a:off x="16367044" y="118562"/>
            <a:ext cx="2229573" cy="1254135"/>
          </a:xfrm>
          <a:custGeom>
            <a:rect b="b" l="l" r="r" t="t"/>
            <a:pathLst>
              <a:path extrusionOk="0" h="1254135" w="2229573">
                <a:moveTo>
                  <a:pt x="0" y="0"/>
                </a:moveTo>
                <a:lnTo>
                  <a:pt x="2229573" y="0"/>
                </a:lnTo>
                <a:lnTo>
                  <a:pt x="2229573" y="1254135"/>
                </a:lnTo>
                <a:lnTo>
                  <a:pt x="0" y="12541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51" name="Rounded Rectangle 150"/>
          <p:cNvSpPr/>
          <p:nvPr/>
        </p:nvSpPr>
        <p:spPr>
          <a:xfrm>
            <a:off x="914400" y="1691640"/>
            <a:ext cx="3154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</a:p>
          <a:p>
            <a:pPr>
              <a:spcAft>
                <a:spcPts val="100"/>
              </a:spcAft>
              <a:defRPr sz="1100" b="1">
                <a:solidFill>
                  <a:srgbClr val="4338CA"/>
                </a:solidFill>
                <a:latin typeface="IBM Plex Mono"/>
              </a:defRPr>
            </a:pPr>
            <a:r>
              <a:t>STEP 1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IBM Plex Mono"/>
              </a:defRPr>
            </a:pPr>
            <a:r>
              <a:t>Phone OTP Sign-In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User enters mobile number via MiniMoth modal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Enters 6-digit SMS OTP (or sandbox 123456)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Profile binds to Roll 62, Div D4B, EXTC, FE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JWT session token generated &amp; stored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251960" y="1691640"/>
            <a:ext cx="3154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</a:p>
          <a:p>
            <a:pPr>
              <a:spcAft>
                <a:spcPts val="100"/>
              </a:spcAft>
              <a:defRPr sz="1100" b="1">
                <a:solidFill>
                  <a:srgbClr val="047857"/>
                </a:solidFill>
                <a:latin typeface="IBM Plex Mono"/>
              </a:defRPr>
            </a:pPr>
            <a:r>
              <a:t>STEP 2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IBM Plex Mono"/>
              </a:defRPr>
            </a:pPr>
            <a:r>
              <a:t>Daily Smart Hub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Dashboard auto-detects current weekday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Loads official D4B schedule (Room B22/523)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Shows urgent assignment submissions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Displays real-time campus &amp; commute alerts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589520" y="1691640"/>
            <a:ext cx="3154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</a:p>
          <a:p>
            <a:pPr>
              <a:spcAft>
                <a:spcPts val="100"/>
              </a:spcAft>
              <a:defRPr sz="1100" b="1">
                <a:solidFill>
                  <a:srgbClr val="B45309"/>
                </a:solidFill>
                <a:latin typeface="IBM Plex Mono"/>
              </a:defRPr>
            </a:pPr>
            <a:r>
              <a:t>STEP 3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IBM Plex Mono"/>
              </a:defRPr>
            </a:pPr>
            <a:r>
              <a:t>Academic Goal Math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Enters Unit Test scores (24/40 in Maths)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Adjusts target SGPA slider (e.g. 8.50)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Engine locks mathematically impossible grades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Calculates exact End-Sem score needed (56/60)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0927080" y="1691640"/>
            <a:ext cx="3154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</a:p>
          <a:p>
            <a:pPr>
              <a:spcAft>
                <a:spcPts val="100"/>
              </a:spcAft>
              <a:defRPr sz="1100" b="1">
                <a:solidFill>
                  <a:srgbClr val="6D28D9"/>
                </a:solidFill>
                <a:latin typeface="IBM Plex Mono"/>
              </a:defRPr>
            </a:pPr>
            <a:r>
              <a:t>STEP 4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IBM Plex Mono"/>
              </a:defRPr>
            </a:pPr>
            <a:r>
              <a:t>Peer Barter &amp; Ride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Alert flags vulnerable Mechanics grade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Books 1-on-1 session with senior tutor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Spends 1 Time-Credit (1h teach = 1 credit)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Requests carpool seat from Kurla station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4264640" y="1691640"/>
            <a:ext cx="3154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</a:p>
          <a:p>
            <a:pPr>
              <a:spcAft>
                <a:spcPts val="100"/>
              </a:spcAft>
              <a:defRPr sz="1100" b="1">
                <a:solidFill>
                  <a:srgbClr val="BE123C"/>
                </a:solidFill>
                <a:latin typeface="IBM Plex Mono"/>
              </a:defRPr>
            </a:pPr>
            <a:r>
              <a:t>STEP 5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IBM Plex Mono"/>
              </a:defRPr>
            </a:pPr>
            <a:r>
              <a:t>Spirit Challenge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Division completes Genesis Hackathon task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Submits verification proof link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Division D4B earns 500 leaderboard points</a:t>
            </a:r>
          </a:p>
          <a:p>
            <a:pPr>
              <a:spcAft>
                <a:spcPts val="600"/>
              </a:spcAft>
              <a:defRPr sz="1000" b="0">
                <a:solidFill>
                  <a:srgbClr val="334155"/>
                </a:solidFill>
                <a:latin typeface="Arial"/>
              </a:defRPr>
            </a:pPr>
            <a:r>
              <a:t>• Division rank updates live on Spirit Board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914400" y="6309360"/>
            <a:ext cx="16459200" cy="187451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</a:p>
          <a:p>
            <a:pPr>
              <a:spcAft>
                <a:spcPts val="400"/>
              </a:spcAft>
              <a:defRPr sz="1300" b="1">
                <a:solidFill>
                  <a:srgbClr val="4338CA"/>
                </a:solidFill>
                <a:latin typeface="IBM Plex Mono"/>
              </a:defRPr>
            </a:pPr>
            <a:r>
              <a:t>WORKING PROTOTYPE &amp; LIVE DEMO VERIFICATION</a:t>
            </a:r>
          </a:p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Fully Functional Application: Production-ready React 19 web companion running live at http://localhost:5173/</a:t>
            </a:r>
          </a:p>
          <a:p>
            <a:pPr>
              <a:spcAft>
                <a:spcPts val="3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Complete PS-02 Compliance: All 8 core problem statement modules implemented with real VESIT data (12 divisions, Sem 1 official timetable, MiniMoth auth).</a:t>
            </a:r>
          </a:p>
          <a:p>
            <a:pPr>
              <a:spcAft>
                <a:spcPts val="2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Zero Errors Build: Built and verified via 'npm run build' with zero TypeScript compilation warnings or layout errors.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156" name="Google Shape;156;p17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F2F24"/>
            </a:solidFill>
            <a:ln>
              <a:noFill/>
            </a:ln>
          </p:spPr>
        </p:sp>
        <p:sp>
          <p:nvSpPr>
            <p:cNvPr id="157" name="Google Shape;157;p17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17"/>
          <p:cNvSpPr txBox="1"/>
          <p:nvPr/>
        </p:nvSpPr>
        <p:spPr>
          <a:xfrm>
            <a:off x="3406676" y="383756"/>
            <a:ext cx="11474648" cy="103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23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 SCOPE &amp; REFERENCES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028700" y="1911027"/>
            <a:ext cx="15699934" cy="2980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3399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2601885" y="1463560"/>
            <a:ext cx="13084230" cy="7359879"/>
          </a:xfrm>
          <a:custGeom>
            <a:rect b="b" l="l" r="r" t="t"/>
            <a:pathLst>
              <a:path extrusionOk="0"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61" name="Google Shape;161;p17"/>
          <p:cNvSpPr/>
          <p:nvPr/>
        </p:nvSpPr>
        <p:spPr>
          <a:xfrm>
            <a:off x="16367044" y="118562"/>
            <a:ext cx="2229573" cy="1254135"/>
          </a:xfrm>
          <a:custGeom>
            <a:rect b="b" l="l" r="r" t="t"/>
            <a:pathLst>
              <a:path extrusionOk="0" h="1254135" w="2229573">
                <a:moveTo>
                  <a:pt x="0" y="0"/>
                </a:moveTo>
                <a:lnTo>
                  <a:pt x="2229573" y="0"/>
                </a:lnTo>
                <a:lnTo>
                  <a:pt x="2229573" y="1254135"/>
                </a:lnTo>
                <a:lnTo>
                  <a:pt x="0" y="12541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162" name="Google Shape;162;p17"/>
          <p:cNvGrpSpPr/>
          <p:nvPr/>
        </p:nvGrpSpPr>
        <p:grpSpPr>
          <a:xfrm>
            <a:off x="191375" y="118562"/>
            <a:ext cx="1292532" cy="1302817"/>
            <a:chOff x="0" y="0"/>
            <a:chExt cx="1723376" cy="1737090"/>
          </a:xfrm>
        </p:grpSpPr>
        <p:grpSp>
          <p:nvGrpSpPr>
            <p:cNvPr id="163" name="Google Shape;163;p17"/>
            <p:cNvGrpSpPr/>
            <p:nvPr/>
          </p:nvGrpSpPr>
          <p:grpSpPr>
            <a:xfrm>
              <a:off x="94119" y="59143"/>
              <a:ext cx="1540538" cy="1540538"/>
              <a:chOff x="0" y="0"/>
              <a:chExt cx="812800" cy="812800"/>
            </a:xfrm>
          </p:grpSpPr>
          <p:sp>
            <p:nvSpPr>
              <p:cNvPr id="164" name="Google Shape;164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50" lIns="25450" spcFirstLastPara="1" rIns="25450" wrap="square" tIns="2545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6" name="Google Shape;166;p17"/>
            <p:cNvSpPr/>
            <p:nvPr/>
          </p:nvSpPr>
          <p:spPr>
            <a:xfrm>
              <a:off x="0" y="0"/>
              <a:ext cx="1723376" cy="1737090"/>
            </a:xfrm>
            <a:custGeom>
              <a:rect b="b" l="l" r="r" t="t"/>
              <a:pathLst>
                <a:path extrusionOk="0" h="1737090" w="1723376">
                  <a:moveTo>
                    <a:pt x="0" y="0"/>
                  </a:moveTo>
                  <a:lnTo>
                    <a:pt x="1723376" y="0"/>
                  </a:lnTo>
                  <a:lnTo>
                    <a:pt x="1723376" y="1737090"/>
                  </a:lnTo>
                  <a:lnTo>
                    <a:pt x="0" y="17370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67" name="Rounded Rectangle 166"/>
          <p:cNvSpPr/>
          <p:nvPr/>
        </p:nvSpPr>
        <p:spPr>
          <a:xfrm>
            <a:off x="914400" y="1691640"/>
            <a:ext cx="8046720" cy="6492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</a:p>
          <a:p>
            <a:pPr>
              <a:spcAft>
                <a:spcPts val="1000"/>
              </a:spcAft>
              <a:defRPr sz="1500" b="1">
                <a:solidFill>
                  <a:srgbClr val="4338CA"/>
                </a:solidFill>
                <a:latin typeface="IBM Plex Mono"/>
              </a:defRPr>
            </a:pPr>
            <a:r>
              <a:t>FUTURE SCOPE &amp; PRODUCT ROADMAP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1. Mobile Native App via Capacitor / PWA</a:t>
            </a:r>
          </a:p>
          <a:p>
            <a:pPr>
              <a:spcAft>
                <a:spcPts val="8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Packaging the web application into lightweight Android/iOS apps with offline timetable caching, lock-screen widgets, and push notifications 15 minutes before lectures.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2. College ERP &amp; MIS Portal Integration</a:t>
            </a:r>
          </a:p>
          <a:p>
            <a:pPr>
              <a:spcAft>
                <a:spcPts val="8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Direct API integration with college academic systems to automatically pull attendance percentages and unit test marks without manual student data entry.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3. AI Academic Co-Pilot for Difficult Subjects</a:t>
            </a:r>
          </a:p>
          <a:p>
            <a:pPr>
              <a:spcAft>
                <a:spcPts val="8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Fine-tuning localized lightweight LLMs on Mumbai University syllabus and previous year question papers (PYQs) to solve step-by-step mechanics and math equations.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4. Multi-College Autonomous Scaling</a:t>
            </a:r>
          </a:p>
          <a:p>
            <a:pPr>
              <a:spcAft>
                <a:spcPts val="2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Multi-tenant institutional architecture allowing other Mumbai University engineering colleges to onboard their customized divisions, grading rules, and campus maps.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9235440" y="1691640"/>
            <a:ext cx="8138160" cy="6492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</a:p>
          <a:p>
            <a:pPr>
              <a:spcAft>
                <a:spcPts val="1000"/>
              </a:spcAft>
              <a:defRPr sz="1500" b="1">
                <a:solidFill>
                  <a:srgbClr val="6D28D9"/>
                </a:solidFill>
                <a:latin typeface="IBM Plex Mono"/>
              </a:defRPr>
            </a:pPr>
            <a:r>
              <a:t>REFERENCES &amp; TECHNICAL RESOURCES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Institutional &amp; Academic References:</a:t>
            </a:r>
          </a:p>
          <a:p>
            <a:pPr>
              <a:spcAft>
                <a:spcPts val="6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VESIT Autonomous Academic Regulations &amp; Syllabus Scheme 2026-27 (Official Institutional Portal: ves.ac.in)</a:t>
            </a:r>
          </a:p>
          <a:p>
            <a:pPr>
              <a:spcAft>
                <a:spcPts val="6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Mumbai University Credit-Based Grading System (CBGS) 10-Point Grade Distribution &amp; Passing Minimum Norms</a:t>
            </a:r>
          </a:p>
          <a:p>
            <a:pPr>
              <a:spcAft>
                <a:spcPts val="6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Official VESIT Semester 1 Final Allotment &amp; Roll Call Sheet (2026-27 w.e.f. 21/09/2026)</a:t>
            </a:r>
          </a:p>
          <a:p>
            <a:pPr>
              <a:spcAft>
                <a:spcPts val="10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Official VESIT Semester 1 Group A &amp; Group B Timetable and Faculty Abbreviation Master Directory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Technologies, APIs &amp; Documentation:</a:t>
            </a:r>
          </a:p>
          <a:p>
            <a:pPr>
              <a:spcAft>
                <a:spcPts val="6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MiniMoth Developer Platform: Serverless Phone OTP Authentication &amp; JWT Token Rotation API Docs</a:t>
            </a:r>
          </a:p>
          <a:p>
            <a:pPr>
              <a:spcAft>
                <a:spcPts val="6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Leaflet.js &amp; OpenStreetMap Foundation: Interactive Web Mapping API &amp; Chembur/Kurla Geodata</a:t>
            </a:r>
          </a:p>
          <a:p>
            <a:pPr>
              <a:spcAft>
                <a:spcPts val="200"/>
              </a:spcAft>
              <a:defRPr sz="1050" b="0">
                <a:solidFill>
                  <a:srgbClr val="334155"/>
                </a:solidFill>
                <a:latin typeface="Arial"/>
              </a:defRPr>
            </a:pPr>
            <a:r>
              <a:t>• React 19 Core Architecture, TypeScript 5.8 Language Specs, and Tailwind CSS v4 Theme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18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172" name="Google Shape;172;p18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F2F24"/>
            </a:solidFill>
            <a:ln>
              <a:noFill/>
            </a:ln>
          </p:spPr>
        </p:sp>
        <p:sp>
          <p:nvSpPr>
            <p:cNvPr id="173" name="Google Shape;173;p18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18"/>
          <p:cNvSpPr txBox="1"/>
          <p:nvPr/>
        </p:nvSpPr>
        <p:spPr>
          <a:xfrm>
            <a:off x="4095304" y="389964"/>
            <a:ext cx="10097393" cy="103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23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IMPORTANT INSTRUCTIONS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837641" y="2365142"/>
            <a:ext cx="15699934" cy="3580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Maximum 5 slides only (excluding this slide)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Do not change slide order or headings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Avoid long paragraphs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Use bullets, diagrams, images, flowcharts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PPT must be original work of the team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File name format: TeamName_Genesis2.0_FE/SE/TE/BE/MCA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2601885" y="1463560"/>
            <a:ext cx="13084230" cy="7359879"/>
          </a:xfrm>
          <a:custGeom>
            <a:rect b="b" l="l" r="r" t="t"/>
            <a:pathLst>
              <a:path extrusionOk="0"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18"/>
          <p:cNvSpPr/>
          <p:nvPr/>
        </p:nvSpPr>
        <p:spPr>
          <a:xfrm>
            <a:off x="16367044" y="118562"/>
            <a:ext cx="2229573" cy="1254135"/>
          </a:xfrm>
          <a:custGeom>
            <a:rect b="b" l="l" r="r" t="t"/>
            <a:pathLst>
              <a:path extrusionOk="0" h="1254135" w="2229573">
                <a:moveTo>
                  <a:pt x="0" y="0"/>
                </a:moveTo>
                <a:lnTo>
                  <a:pt x="2229573" y="0"/>
                </a:lnTo>
                <a:lnTo>
                  <a:pt x="2229573" y="1254135"/>
                </a:lnTo>
                <a:lnTo>
                  <a:pt x="0" y="12541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8" name="Google Shape;178;p18"/>
          <p:cNvGrpSpPr/>
          <p:nvPr/>
        </p:nvGrpSpPr>
        <p:grpSpPr>
          <a:xfrm>
            <a:off x="191375" y="118562"/>
            <a:ext cx="1292532" cy="1302817"/>
            <a:chOff x="0" y="0"/>
            <a:chExt cx="1723376" cy="1737090"/>
          </a:xfrm>
        </p:grpSpPr>
        <p:grpSp>
          <p:nvGrpSpPr>
            <p:cNvPr id="179" name="Google Shape;179;p18"/>
            <p:cNvGrpSpPr/>
            <p:nvPr/>
          </p:nvGrpSpPr>
          <p:grpSpPr>
            <a:xfrm>
              <a:off x="94119" y="59143"/>
              <a:ext cx="1540538" cy="1540538"/>
              <a:chOff x="0" y="0"/>
              <a:chExt cx="812800" cy="812800"/>
            </a:xfrm>
          </p:grpSpPr>
          <p:sp>
            <p:nvSpPr>
              <p:cNvPr id="180" name="Google Shape;180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50" lIns="25450" spcFirstLastPara="1" rIns="25450" wrap="square" tIns="2545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2" name="Google Shape;182;p18"/>
            <p:cNvSpPr/>
            <p:nvPr/>
          </p:nvSpPr>
          <p:spPr>
            <a:xfrm>
              <a:off x="0" y="0"/>
              <a:ext cx="1723376" cy="1737090"/>
            </a:xfrm>
            <a:custGeom>
              <a:rect b="b" l="l" r="r" t="t"/>
              <a:pathLst>
                <a:path extrusionOk="0" h="1737090" w="1723376">
                  <a:moveTo>
                    <a:pt x="0" y="0"/>
                  </a:moveTo>
                  <a:lnTo>
                    <a:pt x="1723376" y="0"/>
                  </a:lnTo>
                  <a:lnTo>
                    <a:pt x="1723376" y="1737090"/>
                  </a:lnTo>
                  <a:lnTo>
                    <a:pt x="0" y="17370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