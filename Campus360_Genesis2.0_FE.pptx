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10287000" cx="18288000"/>
  <p:notesSz cx="6858000" cy="9144000"/>
  <p:embeddedFontLst>
    <p:embeddedFont>
      <p:font typeface="Libre Baskerville"/>
      <p:bold r:id="rId11"/>
      <p:boldItalic r:id="rId12"/>
    </p:embeddedFont>
    <p:embeddedFont>
      <p:font typeface="IBM Plex Mono"/>
      <p:bold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font" Target="fonts/LibreBaskerville-bold.fntdata"/><Relationship Id="rId12" Type="http://schemas.openxmlformats.org/officeDocument/2006/relationships/font" Target="fonts/LibreBaskerville-boldItalic.fntdata"/><Relationship Id="rId13" Type="http://schemas.openxmlformats.org/officeDocument/2006/relationships/font" Target="fonts/IBMPlexMono-bold.fntdata"/><Relationship Id="rId14" Type="http://schemas.openxmlformats.org/officeDocument/2006/relationships/font" Target="fonts/IBMPlexMon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h3e9dd792a08fb2a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h3e9dd792a08fb2a_4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FDFDFF"/>
            </a:gs>
            <a:gs pos="100000">
              <a:srgbClr val="DBEEEE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3"/>
          <p:cNvGrpSpPr/>
          <p:nvPr/>
        </p:nvGrpSpPr>
        <p:grpSpPr>
          <a:xfrm>
            <a:off x="0" y="9113639"/>
            <a:ext cx="18288000" cy="1173361"/>
            <a:chOff x="0" y="-38100"/>
            <a:chExt cx="4816593" cy="309033"/>
          </a:xfrm>
        </p:grpSpPr>
        <p:sp>
          <p:nvSpPr>
            <p:cNvPr id="85" name="Google Shape;85;p13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21436F"/>
            </a:solidFill>
            <a:ln>
              <a:noFill/>
            </a:ln>
          </p:spPr>
        </p:sp>
        <p:sp>
          <p:nvSpPr>
            <p:cNvPr id="86" name="Google Shape;86;p13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3"/>
          <p:cNvSpPr/>
          <p:nvPr/>
        </p:nvSpPr>
        <p:spPr>
          <a:xfrm>
            <a:off x="11714786" y="1402661"/>
            <a:ext cx="5254203" cy="7855639"/>
          </a:xfrm>
          <a:custGeom>
            <a:rect b="b" l="l" r="r" t="t"/>
            <a:pathLst>
              <a:path extrusionOk="0" h="7855639" w="5254203">
                <a:moveTo>
                  <a:pt x="0" y="0"/>
                </a:moveTo>
                <a:lnTo>
                  <a:pt x="5254203" y="0"/>
                </a:lnTo>
                <a:lnTo>
                  <a:pt x="5254203" y="7855639"/>
                </a:lnTo>
                <a:lnTo>
                  <a:pt x="0" y="785563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82000"/>
            </a:blip>
            <a:stretch>
              <a:fillRect b="-11706" l="0" r="0" t="0"/>
            </a:stretch>
          </a:blipFill>
          <a:ln>
            <a:noFill/>
          </a:ln>
        </p:spPr>
      </p:sp>
      <p:sp>
        <p:nvSpPr>
          <p:cNvPr id="88" name="Google Shape;88;p13"/>
          <p:cNvSpPr/>
          <p:nvPr/>
        </p:nvSpPr>
        <p:spPr>
          <a:xfrm>
            <a:off x="751699" y="-305242"/>
            <a:ext cx="6829722" cy="3841719"/>
          </a:xfrm>
          <a:custGeom>
            <a:rect b="b" l="l" r="r" t="t"/>
            <a:pathLst>
              <a:path extrusionOk="0" h="3841719" w="6829722">
                <a:moveTo>
                  <a:pt x="0" y="0"/>
                </a:moveTo>
                <a:lnTo>
                  <a:pt x="6829722" y="0"/>
                </a:lnTo>
                <a:lnTo>
                  <a:pt x="6829722" y="3841718"/>
                </a:lnTo>
                <a:lnTo>
                  <a:pt x="0" y="384171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89" name="Google Shape;89;p13"/>
          <p:cNvGrpSpPr/>
          <p:nvPr/>
        </p:nvGrpSpPr>
        <p:grpSpPr>
          <a:xfrm>
            <a:off x="13341723" y="188798"/>
            <a:ext cx="1204279" cy="1213862"/>
            <a:chOff x="0" y="0"/>
            <a:chExt cx="1605706" cy="1618483"/>
          </a:xfrm>
        </p:grpSpPr>
        <p:grpSp>
          <p:nvGrpSpPr>
            <p:cNvPr id="90" name="Google Shape;90;p13"/>
            <p:cNvGrpSpPr/>
            <p:nvPr/>
          </p:nvGrpSpPr>
          <p:grpSpPr>
            <a:xfrm>
              <a:off x="87692" y="55104"/>
              <a:ext cx="1435352" cy="1435352"/>
              <a:chOff x="0" y="0"/>
              <a:chExt cx="812800" cy="812800"/>
            </a:xfrm>
          </p:grpSpPr>
          <p:sp>
            <p:nvSpPr>
              <p:cNvPr id="91" name="Google Shape;91;p1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rect b="b" l="l" r="r" t="t"/>
                <a:pathLst>
                  <a:path extrusionOk="0"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A1D2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2" name="Google Shape;92;p13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88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93" name="Google Shape;93;p13"/>
            <p:cNvSpPr/>
            <p:nvPr/>
          </p:nvSpPr>
          <p:spPr>
            <a:xfrm>
              <a:off x="0" y="0"/>
              <a:ext cx="1605706" cy="1618483"/>
            </a:xfrm>
            <a:custGeom>
              <a:rect b="b" l="l" r="r" t="t"/>
              <a:pathLst>
                <a:path extrusionOk="0" h="1618483" w="1605706">
                  <a:moveTo>
                    <a:pt x="0" y="0"/>
                  </a:moveTo>
                  <a:lnTo>
                    <a:pt x="1605706" y="0"/>
                  </a:lnTo>
                  <a:lnTo>
                    <a:pt x="1605706" y="1618483"/>
                  </a:lnTo>
                  <a:lnTo>
                    <a:pt x="0" y="1618483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</p:grpSp>
      <p:sp>
        <p:nvSpPr>
          <p:cNvPr id="94" name="Google Shape;94;p13"/>
          <p:cNvSpPr/>
          <p:nvPr/>
        </p:nvSpPr>
        <p:spPr>
          <a:xfrm>
            <a:off x="14837583" y="0"/>
            <a:ext cx="3261238" cy="1591459"/>
          </a:xfrm>
          <a:custGeom>
            <a:rect b="b" l="l" r="r" t="t"/>
            <a:pathLst>
              <a:path extrusionOk="0" h="1591459" w="3261238">
                <a:moveTo>
                  <a:pt x="0" y="0"/>
                </a:moveTo>
                <a:lnTo>
                  <a:pt x="3261237" y="0"/>
                </a:lnTo>
                <a:lnTo>
                  <a:pt x="3261237" y="1591459"/>
                </a:lnTo>
                <a:lnTo>
                  <a:pt x="0" y="159145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5" name="Google Shape;95;p13"/>
          <p:cNvSpPr txBox="1"/>
          <p:nvPr/>
        </p:nvSpPr>
        <p:spPr>
          <a:xfrm>
            <a:off x="766837" y="6069797"/>
            <a:ext cx="9392125" cy="5750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27" u="none" cap="none" strike="noStrike">
                <a:solidFill>
                  <a:srgbClr val="0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TEAM MEMBERS:-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751699" y="3220359"/>
            <a:ext cx="3656301" cy="5750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27" u="none" cap="none" strike="noStrike">
                <a:solidFill>
                  <a:srgbClr val="0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TRACK:- EVA 01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751699" y="4169635"/>
            <a:ext cx="9407263" cy="5750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27" u="none" cap="none" strike="noStrike">
                <a:solidFill>
                  <a:srgbClr val="0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PROBLEM STATEMENT ID:-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751699" y="5119716"/>
            <a:ext cx="9407263" cy="5750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27" u="none" cap="none" strike="noStrike">
                <a:solidFill>
                  <a:srgbClr val="0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TEAM NAME:- </a:t>
            </a:r>
            <a:endParaRPr/>
          </a:p>
        </p:txBody>
      </p:sp>
      <p:sp>
        <p:nvSpPr>
          <p:cNvPr id="99" name="Google Shape;99;p13"/>
          <p:cNvSpPr txBox="1"/>
          <p:nvPr/>
        </p:nvSpPr>
        <p:spPr>
          <a:xfrm>
            <a:off x="4892840" y="6069797"/>
            <a:ext cx="5266122" cy="5750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27" u="none" cap="none" strike="noStrike">
                <a:solidFill>
                  <a:srgbClr val="0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TEAM MEMBER 1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4892840" y="6685393"/>
            <a:ext cx="5266122" cy="5750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27" u="none" cap="none" strike="noStrike">
                <a:solidFill>
                  <a:srgbClr val="0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TEAM MEMBER 2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4892840" y="7300988"/>
            <a:ext cx="5266122" cy="5750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27" u="none" cap="none" strike="noStrike">
                <a:solidFill>
                  <a:srgbClr val="0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TEAM MEMBER 3</a:t>
            </a:r>
            <a:endParaRPr/>
          </a:p>
        </p:txBody>
      </p:sp>
      <p:sp>
        <p:nvSpPr>
          <p:cNvPr id="102" name="Google Shape;102;p13"/>
          <p:cNvSpPr txBox="1"/>
          <p:nvPr/>
        </p:nvSpPr>
        <p:spPr>
          <a:xfrm>
            <a:off x="4892840" y="7916584"/>
            <a:ext cx="5266122" cy="5750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3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27" u="none" cap="none" strike="noStrike">
                <a:solidFill>
                  <a:srgbClr val="0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TEAM MEMBER 4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FDFDFF"/>
            </a:gs>
            <a:gs pos="100000">
              <a:srgbClr val="DBEEEE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4"/>
          <p:cNvSpPr txBox="1"/>
          <p:nvPr/>
        </p:nvSpPr>
        <p:spPr>
          <a:xfrm>
            <a:off x="545138" y="1752917"/>
            <a:ext cx="8133300" cy="7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1"/>
              </a:lnSpc>
              <a:spcBef>
                <a:spcPts val="0"/>
              </a:spcBef>
              <a:spcAft>
                <a:spcPts val="600"/>
              </a:spcAft>
              <a:buNone/>
              <a:defRPr sz="2200" b="1">
                <a:solidFill>
                  <a:srgbClr val="111827"/>
                </a:solidFill>
                <a:latin typeface="Libre Baskerville"/>
              </a:defRPr>
            </a:pPr>
            <a:r>
              <a:t>Problem</a:t>
            </a:r>
            <a:endParaRPr/>
          </a:p>
          <a:p>
            <a:pPr lvl="1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Fragmented Daily Routine: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Academics, timetables, ride-sharing, club events, and peer help are scattered across unorganized WhatsApp groups, physical notice boards, and word-of-mouth.</a:t>
            </a:r>
          </a:p>
          <a:p>
            <a:pPr lvl="1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Who Faces This: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600+ first-year engineering students across 12 divisions transitioning into college without a unified platform.</a:t>
            </a:r>
          </a:p>
          <a:p>
            <a:pPr lvl="1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Why Difficult Currently: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Existing tools are disconnected silos—calculators only work after marks arrive, event pages lack live states, and finding verified peer tutors is ad-hoc.</a:t>
            </a:r>
          </a:p>
          <a:p>
            <a:pPr>
              <a:spcBef>
                <a:spcPts val="1400"/>
              </a:spcBef>
              <a:spcAft>
                <a:spcPts val="600"/>
              </a:spcAft>
              <a:defRPr sz="2200" b="1">
                <a:solidFill>
                  <a:srgbClr val="111827"/>
                </a:solidFill>
                <a:latin typeface="Libre Baskerville"/>
              </a:defRPr>
            </a:pPr>
            <a:r>
              <a:t>Our Solution</a:t>
            </a:r>
          </a:p>
          <a:p>
            <a:pPr lvl="1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Unified Campus Companion (Campus360):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A single responsive platform solving academic tracking, daily commute, peer-learning, and campus help in one flow.</a:t>
            </a:r>
          </a:p>
          <a:p>
            <a:pPr lvl="1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User Inputs: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Branch &amp; Division (D1ADA to D5C), target SGPA, skills offered/needed, and ride source/destination.</a:t>
            </a:r>
          </a:p>
          <a:p>
            <a:pPr lvl="1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Processing &amp; Outputs: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Generates live Mon–Fri division timetables, what-if SGPA needed-marks tables, verified Leaflet carpools, and peer time-bank exchanges.</a:t>
            </a:r>
          </a:p>
        </p:txBody>
      </p:sp>
      <p:grpSp>
        <p:nvGrpSpPr>
          <p:cNvPr id="108" name="Google Shape;108;p14"/>
          <p:cNvGrpSpPr/>
          <p:nvPr/>
        </p:nvGrpSpPr>
        <p:grpSpPr>
          <a:xfrm>
            <a:off x="0" y="9113639"/>
            <a:ext cx="18288000" cy="1173361"/>
            <a:chOff x="0" y="-38100"/>
            <a:chExt cx="4816593" cy="309033"/>
          </a:xfrm>
        </p:grpSpPr>
        <p:sp>
          <p:nvSpPr>
            <p:cNvPr id="109" name="Google Shape;109;p14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21436F"/>
            </a:solidFill>
            <a:ln>
              <a:noFill/>
            </a:ln>
          </p:spPr>
        </p:sp>
        <p:sp>
          <p:nvSpPr>
            <p:cNvPr id="110" name="Google Shape;110;p14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4"/>
          <p:cNvGrpSpPr/>
          <p:nvPr/>
        </p:nvGrpSpPr>
        <p:grpSpPr>
          <a:xfrm>
            <a:off x="191375" y="118562"/>
            <a:ext cx="1284036" cy="1294254"/>
            <a:chOff x="0" y="0"/>
            <a:chExt cx="1712048" cy="1725672"/>
          </a:xfrm>
        </p:grpSpPr>
        <p:grpSp>
          <p:nvGrpSpPr>
            <p:cNvPr id="112" name="Google Shape;112;p14"/>
            <p:cNvGrpSpPr/>
            <p:nvPr/>
          </p:nvGrpSpPr>
          <p:grpSpPr>
            <a:xfrm>
              <a:off x="93500" y="58754"/>
              <a:ext cx="1530413" cy="1530413"/>
              <a:chOff x="0" y="0"/>
              <a:chExt cx="812800" cy="812800"/>
            </a:xfrm>
          </p:grpSpPr>
          <p:sp>
            <p:nvSpPr>
              <p:cNvPr id="113" name="Google Shape;113;p1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rect b="b" l="l" r="r" t="t"/>
                <a:pathLst>
                  <a:path extrusionOk="0"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A1D2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" name="Google Shape;114;p14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25450" lIns="25450" spcFirstLastPara="1" rIns="25450" wrap="square" tIns="25450">
                <a:noAutofit/>
              </a:bodyPr>
              <a:lstStyle/>
              <a:p>
                <a:pPr indent="0" lvl="0" marL="0" marR="0" rtl="0" algn="ctr">
                  <a:lnSpc>
                    <a:spcPct val="1088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5" name="Google Shape;115;p14"/>
            <p:cNvSpPr/>
            <p:nvPr/>
          </p:nvSpPr>
          <p:spPr>
            <a:xfrm>
              <a:off x="0" y="0"/>
              <a:ext cx="1712048" cy="1725672"/>
            </a:xfrm>
            <a:custGeom>
              <a:rect b="b" l="l" r="r" t="t"/>
              <a:pathLst>
                <a:path extrusionOk="0" h="1725672" w="1712048">
                  <a:moveTo>
                    <a:pt x="0" y="0"/>
                  </a:moveTo>
                  <a:lnTo>
                    <a:pt x="1712048" y="0"/>
                  </a:lnTo>
                  <a:lnTo>
                    <a:pt x="1712048" y="1725672"/>
                  </a:lnTo>
                  <a:lnTo>
                    <a:pt x="0" y="1725672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</p:grpSp>
      <p:sp>
        <p:nvSpPr>
          <p:cNvPr id="116" name="Google Shape;116;p14"/>
          <p:cNvSpPr txBox="1"/>
          <p:nvPr/>
        </p:nvSpPr>
        <p:spPr>
          <a:xfrm>
            <a:off x="5242694" y="375193"/>
            <a:ext cx="7802612" cy="10376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23" u="none" cap="none" strike="noStrike">
                <a:solidFill>
                  <a:srgbClr val="0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PROPOSED SOLUTION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9679726" y="1817053"/>
            <a:ext cx="8133232" cy="7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1"/>
              </a:lnSpc>
              <a:spcBef>
                <a:spcPts val="0"/>
              </a:spcBef>
              <a:spcAft>
                <a:spcPts val="600"/>
              </a:spcAft>
              <a:buNone/>
              <a:defRPr sz="2200" b="1">
                <a:solidFill>
                  <a:srgbClr val="111827"/>
                </a:solidFill>
                <a:latin typeface="Libre Baskerville"/>
              </a:defRPr>
            </a:pPr>
            <a:r>
              <a:t>Key Features</a:t>
            </a:r>
            <a:endParaRPr/>
          </a:p>
          <a:p>
            <a:pPr lvl="1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Division-Bound Smart Timetable: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Live schedule bound to official VESIT divisions (D1ADA–D5C) with faculty abbreviations &amp; room info.</a:t>
            </a:r>
          </a:p>
          <a:p>
            <a:pPr lvl="1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What-If SGPA Academic Planner: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Dynamic grade lockout engine calculating exact end-sem marks needed to reach target SGPA.</a:t>
            </a:r>
          </a:p>
          <a:p>
            <a:pPr lvl="1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Leaflet Student Carpooling: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Interactive campus map with seat booking state machine (Available, Requested, Confirmed).</a:t>
            </a:r>
          </a:p>
          <a:p>
            <a:pPr lvl="1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1:1 Time-Bank Peer Learning: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Fair credit economy (Teach 1 hr = +1 credit, Learn 1 hr = -1 credit) fostering active collaboration.</a:t>
            </a:r>
          </a:p>
          <a:p>
            <a:pPr lvl="1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Inter-Class Quest Leaderboard: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Gamified challenge board driving friendly competition across college divisions.</a:t>
            </a:r>
          </a:p>
          <a:p>
            <a:pPr>
              <a:spcBef>
                <a:spcPts val="1400"/>
              </a:spcBef>
              <a:spcAft>
                <a:spcPts val="600"/>
              </a:spcAft>
              <a:defRPr sz="2000" b="1">
                <a:solidFill>
                  <a:srgbClr val="111827"/>
                </a:solidFill>
                <a:latin typeface="Libre Baskerville"/>
              </a:defRPr>
            </a:pPr>
            <a:r>
              <a:t>What Makes It Different from existing solution?</a:t>
            </a:r>
          </a:p>
          <a:p>
            <a:pPr lvl="1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All-in-One Interconnected Ecosystem: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Modules feed into each other (timetable alerts prompt peer study; planner drives skill requests).</a:t>
            </a:r>
          </a:p>
          <a:p>
            <a:pPr lvl="1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Zero Learning Curve &amp; High Utility: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Tailored to Mumbai University / VESIT autonomous rules, passing minimums, and division codes.</a:t>
            </a:r>
          </a:p>
          <a:p>
            <a:pPr lvl="1">
              <a:spcAft>
                <a:spcPts val="4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Fosters Real Community: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Replaces passive broadcast groups with reciprocal ride-sharing, time-banking, and class challenges.</a:t>
            </a:r>
          </a:p>
        </p:txBody>
      </p:sp>
      <p:sp>
        <p:nvSpPr>
          <p:cNvPr id="118" name="Google Shape;118;p14"/>
          <p:cNvSpPr/>
          <p:nvPr/>
        </p:nvSpPr>
        <p:spPr>
          <a:xfrm>
            <a:off x="16793950" y="135950"/>
            <a:ext cx="1259674" cy="1259478"/>
          </a:xfrm>
          <a:custGeom>
            <a:rect b="b" l="l" r="r" t="t"/>
            <a:pathLst>
              <a:path extrusionOk="0" h="1259478" w="1259674">
                <a:moveTo>
                  <a:pt x="0" y="0"/>
                </a:moveTo>
                <a:lnTo>
                  <a:pt x="1259674" y="0"/>
                </a:lnTo>
                <a:lnTo>
                  <a:pt x="1259674" y="1259478"/>
                </a:lnTo>
                <a:lnTo>
                  <a:pt x="0" y="12594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-90299" t="-5830"/>
            </a:stretch>
          </a:blipFill>
          <a:ln>
            <a:noFill/>
          </a:ln>
        </p:spPr>
      </p:sp>
      <p:sp>
        <p:nvSpPr>
          <p:cNvPr id="119" name="Google Shape;119;p14"/>
          <p:cNvSpPr/>
          <p:nvPr/>
        </p:nvSpPr>
        <p:spPr>
          <a:xfrm>
            <a:off x="5242694" y="1637105"/>
            <a:ext cx="7187454" cy="7186335"/>
          </a:xfrm>
          <a:custGeom>
            <a:rect b="b" l="l" r="r" t="t"/>
            <a:pathLst>
              <a:path extrusionOk="0" h="7186335" w="7187454">
                <a:moveTo>
                  <a:pt x="0" y="0"/>
                </a:moveTo>
                <a:lnTo>
                  <a:pt x="7187454" y="0"/>
                </a:lnTo>
                <a:lnTo>
                  <a:pt x="7187454" y="7186335"/>
                </a:lnTo>
                <a:lnTo>
                  <a:pt x="0" y="718633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5000"/>
            </a:blip>
            <a:stretch>
              <a:fillRect b="0" l="0" r="-90299" t="-5830"/>
            </a:stretch>
          </a:blip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FDFDFF"/>
            </a:gs>
            <a:gs pos="100000">
              <a:srgbClr val="DBEEEE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Google Shape;124;p15"/>
          <p:cNvGrpSpPr/>
          <p:nvPr/>
        </p:nvGrpSpPr>
        <p:grpSpPr>
          <a:xfrm>
            <a:off x="0" y="9113638"/>
            <a:ext cx="18288118" cy="1173367"/>
            <a:chOff x="0" y="-38100"/>
            <a:chExt cx="4816592" cy="309033"/>
          </a:xfrm>
        </p:grpSpPr>
        <p:sp>
          <p:nvSpPr>
            <p:cNvPr id="125" name="Google Shape;125;p15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21436F"/>
            </a:solidFill>
            <a:ln>
              <a:noFill/>
            </a:ln>
          </p:spPr>
        </p:sp>
        <p:sp>
          <p:nvSpPr>
            <p:cNvPr id="126" name="Google Shape;126;p15"/>
            <p:cNvSpPr txBox="1"/>
            <p:nvPr/>
          </p:nvSpPr>
          <p:spPr>
            <a:xfrm>
              <a:off x="0" y="-38100"/>
              <a:ext cx="4816500" cy="30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p15"/>
          <p:cNvGrpSpPr/>
          <p:nvPr/>
        </p:nvGrpSpPr>
        <p:grpSpPr>
          <a:xfrm>
            <a:off x="191375" y="118562"/>
            <a:ext cx="1292532" cy="1302818"/>
            <a:chOff x="0" y="0"/>
            <a:chExt cx="1723376" cy="1737090"/>
          </a:xfrm>
        </p:grpSpPr>
        <p:grpSp>
          <p:nvGrpSpPr>
            <p:cNvPr id="128" name="Google Shape;128;p15"/>
            <p:cNvGrpSpPr/>
            <p:nvPr/>
          </p:nvGrpSpPr>
          <p:grpSpPr>
            <a:xfrm>
              <a:off x="94119" y="59143"/>
              <a:ext cx="1540500" cy="1540500"/>
              <a:chOff x="0" y="0"/>
              <a:chExt cx="812800" cy="812800"/>
            </a:xfrm>
          </p:grpSpPr>
          <p:sp>
            <p:nvSpPr>
              <p:cNvPr id="129" name="Google Shape;129;p1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rect b="b" l="l" r="r" t="t"/>
                <a:pathLst>
                  <a:path extrusionOk="0"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A1D2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0" name="Google Shape;130;p15"/>
              <p:cNvSpPr txBox="1"/>
              <p:nvPr/>
            </p:nvSpPr>
            <p:spPr>
              <a:xfrm>
                <a:off x="76200" y="47625"/>
                <a:ext cx="660300" cy="68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25450" lIns="25450" spcFirstLastPara="1" rIns="25450" wrap="square" tIns="25450">
                <a:noAutofit/>
              </a:bodyPr>
              <a:lstStyle/>
              <a:p>
                <a:pPr indent="0" lvl="0" marL="0" marR="0" rtl="0" algn="ctr">
                  <a:lnSpc>
                    <a:spcPct val="1088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31" name="Google Shape;131;p15"/>
            <p:cNvSpPr/>
            <p:nvPr/>
          </p:nvSpPr>
          <p:spPr>
            <a:xfrm>
              <a:off x="0" y="0"/>
              <a:ext cx="1723376" cy="1737090"/>
            </a:xfrm>
            <a:custGeom>
              <a:rect b="b" l="l" r="r" t="t"/>
              <a:pathLst>
                <a:path extrusionOk="0" h="1737090" w="1723376">
                  <a:moveTo>
                    <a:pt x="0" y="0"/>
                  </a:moveTo>
                  <a:lnTo>
                    <a:pt x="1723376" y="0"/>
                  </a:lnTo>
                  <a:lnTo>
                    <a:pt x="1723376" y="1737090"/>
                  </a:lnTo>
                  <a:lnTo>
                    <a:pt x="0" y="173709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</p:grpSp>
      <p:sp>
        <p:nvSpPr>
          <p:cNvPr id="132" name="Google Shape;132;p15"/>
          <p:cNvSpPr txBox="1"/>
          <p:nvPr/>
        </p:nvSpPr>
        <p:spPr>
          <a:xfrm>
            <a:off x="1028700" y="445700"/>
            <a:ext cx="15699900" cy="9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23" u="none" cap="none" strike="noStrike">
                <a:solidFill>
                  <a:srgbClr val="0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TECHNICAL APPROACH &amp; </a:t>
            </a:r>
            <a:r>
              <a:rPr b="1" lang="en-US" sz="6023">
                <a:latin typeface="IBM Plex Mono"/>
                <a:ea typeface="IBM Plex Mono"/>
                <a:cs typeface="IBM Plex Mono"/>
                <a:sym typeface="IBM Plex Mono"/>
              </a:rPr>
              <a:t>WORKFLOW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364075" y="1463550"/>
            <a:ext cx="10500000" cy="78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1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Step 1 — User Input: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Student authenticates via Phone OTP (MiniMoth) &amp; selects Branch, Division (e.g. D4B EXTC), and Academic Goals.</a:t>
            </a:r>
            <a:endParaRPr sz="2300">
              <a:solidFill>
                <a:schemeClr val="dk1"/>
              </a:solidFill>
            </a:endParaRPr>
          </a:p>
          <a:p>
            <a:pPr>
              <a:spcAft>
                <a:spcPts val="100"/>
              </a:spcAft>
              <a:defRPr sz="1200" b="1">
                <a:solidFill>
                  <a:srgbClr val="1E3A8A"/>
                </a:solidFill>
                <a:latin typeface="Libre Baskerville"/>
              </a:defRPr>
            </a:pPr>
            <a:r>
              <a:t>      ↓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Step 2 — Data Collection: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System aggregates division timetable feeds, autonomous credit matrix, active carpool routes &amp; peer listings.</a:t>
            </a:r>
          </a:p>
          <a:p>
            <a:pPr>
              <a:spcAft>
                <a:spcPts val="100"/>
              </a:spcAft>
              <a:defRPr sz="1200" b="1">
                <a:solidFill>
                  <a:srgbClr val="1E3A8A"/>
                </a:solidFill>
                <a:latin typeface="Libre Baskerville"/>
              </a:defRPr>
            </a:pPr>
            <a:r>
              <a:t>      ↓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Step 3 — Processing: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Grade engine computes passing thresholds and SGPA = Σ(Credits × GP) / Total Credits; geospatial filter indexes routes.</a:t>
            </a:r>
          </a:p>
          <a:p>
            <a:pPr>
              <a:spcAft>
                <a:spcPts val="100"/>
              </a:spcAft>
              <a:defRPr sz="1200" b="1">
                <a:solidFill>
                  <a:srgbClr val="1E3A8A"/>
                </a:solidFill>
                <a:latin typeface="Libre Baskerville"/>
              </a:defRPr>
            </a:pPr>
            <a:r>
              <a:t>      ↓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Step 4 — Decision / Prediction: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Algorithm locks unreachable grades, verifies minimum pass cutoffs, and balances time-credit ledger.</a:t>
            </a:r>
          </a:p>
          <a:p>
            <a:pPr>
              <a:spcAft>
                <a:spcPts val="100"/>
              </a:spcAft>
              <a:defRPr sz="1200" b="1">
                <a:solidFill>
                  <a:srgbClr val="1E3A8A"/>
                </a:solidFill>
                <a:latin typeface="Libre Baskerville"/>
              </a:defRPr>
            </a:pPr>
            <a:r>
              <a:t>      ↓</a:t>
            </a:r>
          </a:p>
          <a:p>
            <a:pPr>
              <a:spcAft>
                <a:spcPts val="1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Step 5 — Final Output: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Interactive dashboard renders live lecture cards, what-if marks needed table, Leaflet map, and leaderboard.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600" b="1">
                <a:solidFill>
                  <a:srgbClr val="111827"/>
                </a:solidFill>
                <a:latin typeface="Libre Baskerville"/>
              </a:defRPr>
            </a:pPr>
            <a:r>
              <a:t>Demo (Optional):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11827"/>
                </a:solidFill>
                <a:latin typeface="Libre Baskerville"/>
              </a:rPr>
              <a:t>• Working Prototype: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Production build verified (0 errors); hosted live via Vercel / Netlify &amp; local dev server.</a:t>
            </a:r>
          </a:p>
          <a:p>
            <a:r>
              <a:rPr sz="1300" b="1">
                <a:solidFill>
                  <a:srgbClr val="111827"/>
                </a:solidFill>
                <a:latin typeface="Libre Baskerville"/>
              </a:rPr>
              <a:t>• Live Interaction: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Fully responsive on mobile &amp; desktop, instant division switching, real-time what-if SGPA calculations.</a:t>
            </a:r>
          </a:p>
        </p:txBody>
      </p:sp>
      <p:sp>
        <p:nvSpPr>
          <p:cNvPr id="134" name="Google Shape;134;p15"/>
          <p:cNvSpPr txBox="1"/>
          <p:nvPr/>
        </p:nvSpPr>
        <p:spPr>
          <a:xfrm>
            <a:off x="364075" y="4855625"/>
            <a:ext cx="7090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600" u="none" cap="none" strike="noStrike">
              <a:solidFill>
                <a:srgbClr val="000000"/>
              </a:solidFill>
              <a:latin typeface="Libre Baskerville"/>
              <a:ea typeface="Libre Baskerville"/>
              <a:cs typeface="Libre Baskerville"/>
              <a:sym typeface="Libre Baskerville"/>
            </a:endParaRPr>
          </a:p>
        </p:txBody>
      </p:sp>
      <p:sp>
        <p:nvSpPr>
          <p:cNvPr id="135" name="Google Shape;135;p15"/>
          <p:cNvSpPr txBox="1"/>
          <p:nvPr/>
        </p:nvSpPr>
        <p:spPr>
          <a:xfrm>
            <a:off x="11200000" y="1809750"/>
            <a:ext cx="6500000" cy="7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11"/>
              </a:lnSpc>
              <a:spcBef>
                <a:spcPts val="0"/>
              </a:spcBef>
              <a:spcAft>
                <a:spcPts val="800"/>
              </a:spcAft>
              <a:buClr>
                <a:schemeClr val="dk1"/>
              </a:buClr>
              <a:buFont typeface="Arial"/>
              <a:buNone/>
              <a:defRPr sz="2000" b="1">
                <a:solidFill>
                  <a:srgbClr val="111827"/>
                </a:solidFill>
                <a:latin typeface="Libre Baskerville"/>
              </a:defRPr>
            </a:pPr>
            <a:r>
              <a:t>Technology &amp; Why we used it</a:t>
            </a:r>
            <a:endParaRPr sz="1000">
              <a:solidFill>
                <a:schemeClr val="dk1"/>
              </a:solidFill>
            </a:endParaRPr>
          </a:p>
          <a:p>
            <a:pPr lvl="1">
              <a:spcAft>
                <a:spcPts val="500"/>
              </a:spcAft>
            </a:pPr>
            <a:r>
              <a:rPr sz="1300" b="1">
                <a:solidFill>
                  <a:srgbClr val="111827"/>
                </a:solidFill>
                <a:latin typeface="Libre Baskerville"/>
              </a:rPr>
              <a:t>Frontend: React 19 + TypeScript — </a:t>
            </a:r>
            <a:r>
              <a:rPr sz="1200" b="0">
                <a:solidFill>
                  <a:srgbClr val="374151"/>
                </a:solidFill>
                <a:latin typeface="Libre Baskerville"/>
              </a:rPr>
              <a:t>Provides component modularity, instantaneous rendering, and strict end-to-end type safety.</a:t>
            </a:r>
          </a:p>
          <a:p>
            <a:pPr lvl="1">
              <a:spcAft>
                <a:spcPts val="500"/>
              </a:spcAft>
            </a:pPr>
            <a:r>
              <a:rPr sz="1300" b="1">
                <a:solidFill>
                  <a:srgbClr val="111827"/>
                </a:solidFill>
                <a:latin typeface="Libre Baskerville"/>
              </a:rPr>
              <a:t>Bundler: Vite — </a:t>
            </a:r>
            <a:r>
              <a:rPr sz="1200" b="0">
                <a:solidFill>
                  <a:srgbClr val="374151"/>
                </a:solidFill>
                <a:latin typeface="Libre Baskerville"/>
              </a:rPr>
              <a:t>Ultra-fast Hot Module Replacement and highly optimized production builds (&lt; 1.5s).</a:t>
            </a:r>
          </a:p>
          <a:p>
            <a:pPr lvl="1">
              <a:spcAft>
                <a:spcPts val="500"/>
              </a:spcAft>
            </a:pPr>
            <a:r>
              <a:rPr sz="1300" b="1">
                <a:solidFill>
                  <a:srgbClr val="111827"/>
                </a:solidFill>
                <a:latin typeface="Libre Baskerville"/>
              </a:rPr>
              <a:t>Styling: Tailwind CSS — </a:t>
            </a:r>
            <a:r>
              <a:rPr sz="1200" b="0">
                <a:solidFill>
                  <a:srgbClr val="374151"/>
                </a:solidFill>
                <a:latin typeface="Libre Baskerville"/>
              </a:rPr>
              <a:t>Utility-first design enabling rapid, mobile-responsive layouts and instant Dark/Light mode toggle.</a:t>
            </a:r>
          </a:p>
          <a:p>
            <a:pPr lvl="1">
              <a:spcAft>
                <a:spcPts val="500"/>
              </a:spcAft>
            </a:pPr>
            <a:r>
              <a:rPr sz="1300" b="1">
                <a:solidFill>
                  <a:srgbClr val="111827"/>
                </a:solidFill>
                <a:latin typeface="Libre Baskerville"/>
              </a:rPr>
              <a:t>State &amp; Storage: Reactive State + LocalStorage — </a:t>
            </a:r>
            <a:r>
              <a:rPr sz="1200" b="0">
                <a:solidFill>
                  <a:srgbClr val="374151"/>
                </a:solidFill>
                <a:latin typeface="Libre Baskerville"/>
              </a:rPr>
              <a:t>Ensures zero-latency offline performance and persistence without requiring backend servers for prototype demo.</a:t>
            </a:r>
          </a:p>
          <a:p>
            <a:pPr lvl="1">
              <a:spcAft>
                <a:spcPts val="500"/>
              </a:spcAft>
            </a:pPr>
            <a:r>
              <a:rPr sz="1300" b="1">
                <a:solidFill>
                  <a:srgbClr val="111827"/>
                </a:solidFill>
                <a:latin typeface="Libre Baskerville"/>
              </a:rPr>
              <a:t>Mapping: Leaflet &amp; OpenStreetMap — </a:t>
            </a:r>
            <a:r>
              <a:rPr sz="1200" b="0">
                <a:solidFill>
                  <a:srgbClr val="374151"/>
                </a:solidFill>
                <a:latin typeface="Libre Baskerville"/>
              </a:rPr>
              <a:t>Lightweight, zero-cost interactive geospatial map rendering for ride origins and campus landmarks.</a:t>
            </a:r>
          </a:p>
          <a:p>
            <a:pPr lvl="1">
              <a:spcAft>
                <a:spcPts val="500"/>
              </a:spcAft>
            </a:pPr>
            <a:r>
              <a:rPr sz="1300" b="1">
                <a:solidFill>
                  <a:srgbClr val="111827"/>
                </a:solidFill>
                <a:latin typeface="Libre Baskerville"/>
              </a:rPr>
              <a:t>Auth API: MiniMoth Service — </a:t>
            </a:r>
            <a:r>
              <a:rPr sz="1200" b="0">
                <a:solidFill>
                  <a:srgbClr val="374151"/>
                </a:solidFill>
                <a:latin typeface="Libre Baskerville"/>
              </a:rPr>
              <a:t>Secure phone-based OTP verification with token refresh and seamless session management.</a:t>
            </a:r>
          </a:p>
        </p:txBody>
      </p:sp>
      <p:sp>
        <p:nvSpPr>
          <p:cNvPr id="136" name="Google Shape;136;p15"/>
          <p:cNvSpPr/>
          <p:nvPr/>
        </p:nvSpPr>
        <p:spPr>
          <a:xfrm>
            <a:off x="16793950" y="135950"/>
            <a:ext cx="1259674" cy="1259478"/>
          </a:xfrm>
          <a:custGeom>
            <a:rect b="b" l="l" r="r" t="t"/>
            <a:pathLst>
              <a:path extrusionOk="0" h="1259478" w="1259674">
                <a:moveTo>
                  <a:pt x="0" y="0"/>
                </a:moveTo>
                <a:lnTo>
                  <a:pt x="1259674" y="0"/>
                </a:lnTo>
                <a:lnTo>
                  <a:pt x="1259674" y="1259478"/>
                </a:lnTo>
                <a:lnTo>
                  <a:pt x="0" y="12594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-90299" t="-5830"/>
            </a:stretch>
          </a:blipFill>
          <a:ln>
            <a:noFill/>
          </a:ln>
        </p:spPr>
      </p:sp>
      <p:sp>
        <p:nvSpPr>
          <p:cNvPr id="137" name="Google Shape;137;p15"/>
          <p:cNvSpPr/>
          <p:nvPr/>
        </p:nvSpPr>
        <p:spPr>
          <a:xfrm>
            <a:off x="5242694" y="1637105"/>
            <a:ext cx="7187454" cy="7186335"/>
          </a:xfrm>
          <a:custGeom>
            <a:rect b="b" l="l" r="r" t="t"/>
            <a:pathLst>
              <a:path extrusionOk="0" h="7186335" w="7187454">
                <a:moveTo>
                  <a:pt x="0" y="0"/>
                </a:moveTo>
                <a:lnTo>
                  <a:pt x="7187454" y="0"/>
                </a:lnTo>
                <a:lnTo>
                  <a:pt x="7187454" y="7186335"/>
                </a:lnTo>
                <a:lnTo>
                  <a:pt x="0" y="718633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5000"/>
            </a:blip>
            <a:stretch>
              <a:fillRect b="0" l="0" r="-90299" t="-5830"/>
            </a:stretch>
          </a:blipFill>
          <a:ln>
            <a:noFill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FDFDFF"/>
            </a:gs>
            <a:gs pos="100000">
              <a:srgbClr val="DBEEEE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6"/>
          <p:cNvGrpSpPr/>
          <p:nvPr/>
        </p:nvGrpSpPr>
        <p:grpSpPr>
          <a:xfrm>
            <a:off x="0" y="9113639"/>
            <a:ext cx="18288000" cy="1173361"/>
            <a:chOff x="0" y="-38100"/>
            <a:chExt cx="4816593" cy="309033"/>
          </a:xfrm>
        </p:grpSpPr>
        <p:sp>
          <p:nvSpPr>
            <p:cNvPr id="143" name="Google Shape;143;p16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21436F"/>
            </a:solidFill>
            <a:ln>
              <a:noFill/>
            </a:ln>
          </p:spPr>
        </p:sp>
        <p:sp>
          <p:nvSpPr>
            <p:cNvPr id="144" name="Google Shape;144;p16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5" name="Google Shape;145;p16"/>
          <p:cNvSpPr txBox="1"/>
          <p:nvPr/>
        </p:nvSpPr>
        <p:spPr>
          <a:xfrm>
            <a:off x="3406676" y="383756"/>
            <a:ext cx="11474648" cy="10376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23" u="none" cap="none" strike="noStrike">
                <a:solidFill>
                  <a:srgbClr val="0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FUTURE SCOPE &amp; REFERENCES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837641" y="2000000"/>
            <a:ext cx="7772913" cy="68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1"/>
              </a:lnSpc>
              <a:spcBef>
                <a:spcPts val="0"/>
              </a:spcBef>
              <a:spcAft>
                <a:spcPts val="800"/>
              </a:spcAft>
              <a:buNone/>
              <a:defRPr sz="2200" b="1">
                <a:solidFill>
                  <a:srgbClr val="111827"/>
                </a:solidFill>
                <a:latin typeface="Libre Baskerville"/>
              </a:defRPr>
            </a:pPr>
            <a:r>
              <a:t>Future Scope</a:t>
            </a:r>
            <a:endParaRPr/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Mobile App Support: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Develop native iOS and Android apps (React Native) with offline push notifications for class alerts and carpools.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College ERP &amp; Moodle Sync: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Bi-directional integration with college attendance systems to auto-sync internal marks and attendance percentages.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Live GPS Commute Telemetry: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Real-time live vehicle tracking for ride-sharing and official college bus arrival estimates.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AI Academic Diagnostic Advisor: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Lightweight machine-learning model forecasting borderline grades and recommending targeted peer tutors.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Smart Campus IoT Integrations: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Connect with library RFID turnstiles for real-time seat availability and canteen queue monitoring.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Enterprise Scalability: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Deploy scalable PostgreSQL / Supabase backend with role-based access control for faculty and student coordinators.</a:t>
            </a:r>
          </a:p>
        </p:txBody>
      </p:sp>
      <p:grpSp>
        <p:nvGrpSpPr>
          <p:cNvPr id="147" name="Google Shape;147;p16"/>
          <p:cNvGrpSpPr/>
          <p:nvPr/>
        </p:nvGrpSpPr>
        <p:grpSpPr>
          <a:xfrm>
            <a:off x="191375" y="118562"/>
            <a:ext cx="1292532" cy="1302817"/>
            <a:chOff x="0" y="0"/>
            <a:chExt cx="1723376" cy="1737090"/>
          </a:xfrm>
        </p:grpSpPr>
        <p:grpSp>
          <p:nvGrpSpPr>
            <p:cNvPr id="148" name="Google Shape;148;p16"/>
            <p:cNvGrpSpPr/>
            <p:nvPr/>
          </p:nvGrpSpPr>
          <p:grpSpPr>
            <a:xfrm>
              <a:off x="94119" y="59143"/>
              <a:ext cx="1540538" cy="1540538"/>
              <a:chOff x="0" y="0"/>
              <a:chExt cx="812800" cy="812800"/>
            </a:xfrm>
          </p:grpSpPr>
          <p:sp>
            <p:nvSpPr>
              <p:cNvPr id="149" name="Google Shape;149;p1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rect b="b" l="l" r="r" t="t"/>
                <a:pathLst>
                  <a:path extrusionOk="0"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A1D2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16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25450" lIns="25450" spcFirstLastPara="1" rIns="25450" wrap="square" tIns="25450">
                <a:noAutofit/>
              </a:bodyPr>
              <a:lstStyle/>
              <a:p>
                <a:pPr indent="0" lvl="0" marL="0" marR="0" rtl="0" algn="ctr">
                  <a:lnSpc>
                    <a:spcPct val="1088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51" name="Google Shape;151;p16"/>
            <p:cNvSpPr/>
            <p:nvPr/>
          </p:nvSpPr>
          <p:spPr>
            <a:xfrm>
              <a:off x="0" y="0"/>
              <a:ext cx="1723376" cy="1737090"/>
            </a:xfrm>
            <a:custGeom>
              <a:rect b="b" l="l" r="r" t="t"/>
              <a:pathLst>
                <a:path extrusionOk="0" h="1737090" w="1723376">
                  <a:moveTo>
                    <a:pt x="0" y="0"/>
                  </a:moveTo>
                  <a:lnTo>
                    <a:pt x="1723376" y="0"/>
                  </a:lnTo>
                  <a:lnTo>
                    <a:pt x="1723376" y="1737090"/>
                  </a:lnTo>
                  <a:lnTo>
                    <a:pt x="0" y="173709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</p:grpSp>
      <p:sp>
        <p:nvSpPr>
          <p:cNvPr id="152" name="Google Shape;152;p16"/>
          <p:cNvSpPr txBox="1"/>
          <p:nvPr/>
        </p:nvSpPr>
        <p:spPr>
          <a:xfrm>
            <a:off x="9486387" y="2000000"/>
            <a:ext cx="7772913" cy="68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1"/>
              </a:lnSpc>
              <a:spcBef>
                <a:spcPts val="0"/>
              </a:spcBef>
              <a:spcAft>
                <a:spcPts val="800"/>
              </a:spcAft>
              <a:buNone/>
              <a:defRPr sz="2200" b="1">
                <a:solidFill>
                  <a:srgbClr val="111827"/>
                </a:solidFill>
                <a:latin typeface="Libre Baskerville"/>
              </a:defRPr>
            </a:pPr>
            <a:r>
              <a:t>References</a:t>
            </a:r>
            <a:endParaRPr/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Datasets: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VESIT First-Year Engineering Autonomous Curriculum (Sem 1), Official Division &amp; Roll Allotment Sheet, and Master Timetable.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Research: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IEEE Education Society: 'Student-Centered Digital Campuses &amp; Academic Retention Systems' (2023); Mumbai University Choice Based Credit System (CBCS) Guidelines.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Technologies: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React 19 Official Documentation (react.dev), Vite 8 Frontend Tooling, Tailwind CSS Design System, Lucide React Icons.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APIs &amp; Services: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MiniMoth Phone Authentication Protocol (minimoth.dev), OpenStreetMap Foundation &amp; Leaflet.js Geocoding APIs.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111827"/>
                </a:solidFill>
                <a:latin typeface="Libre Baskerville"/>
              </a:rPr>
              <a:t>Other Resources: </a:t>
            </a:r>
            <a:r>
              <a:rPr sz="1300" b="0">
                <a:solidFill>
                  <a:srgbClr val="374151"/>
                </a:solidFill>
                <a:latin typeface="Libre Baskerville"/>
              </a:rPr>
              <a:t>Vivekanand Education Society's Institute of Technology (Autonomous) Portal (ves.ac.in).</a:t>
            </a:r>
          </a:p>
        </p:txBody>
      </p:sp>
      <p:sp>
        <p:nvSpPr>
          <p:cNvPr id="153" name="Google Shape;153;p16"/>
          <p:cNvSpPr/>
          <p:nvPr/>
        </p:nvSpPr>
        <p:spPr>
          <a:xfrm>
            <a:off x="16793950" y="135950"/>
            <a:ext cx="1259674" cy="1259478"/>
          </a:xfrm>
          <a:custGeom>
            <a:rect b="b" l="l" r="r" t="t"/>
            <a:pathLst>
              <a:path extrusionOk="0" h="1259478" w="1259674">
                <a:moveTo>
                  <a:pt x="0" y="0"/>
                </a:moveTo>
                <a:lnTo>
                  <a:pt x="1259674" y="0"/>
                </a:lnTo>
                <a:lnTo>
                  <a:pt x="1259674" y="1259478"/>
                </a:lnTo>
                <a:lnTo>
                  <a:pt x="0" y="12594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-90299" t="-5830"/>
            </a:stretch>
          </a:blipFill>
          <a:ln>
            <a:noFill/>
          </a:ln>
        </p:spPr>
      </p:sp>
      <p:sp>
        <p:nvSpPr>
          <p:cNvPr id="154" name="Google Shape;154;p16"/>
          <p:cNvSpPr/>
          <p:nvPr/>
        </p:nvSpPr>
        <p:spPr>
          <a:xfrm>
            <a:off x="5242694" y="1637105"/>
            <a:ext cx="7187454" cy="7186335"/>
          </a:xfrm>
          <a:custGeom>
            <a:rect b="b" l="l" r="r" t="t"/>
            <a:pathLst>
              <a:path extrusionOk="0" h="7186335" w="7187454">
                <a:moveTo>
                  <a:pt x="0" y="0"/>
                </a:moveTo>
                <a:lnTo>
                  <a:pt x="7187454" y="0"/>
                </a:lnTo>
                <a:lnTo>
                  <a:pt x="7187454" y="7186335"/>
                </a:lnTo>
                <a:lnTo>
                  <a:pt x="0" y="718633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5000"/>
            </a:blip>
            <a:stretch>
              <a:fillRect b="0" l="0" r="-90299" t="-5830"/>
            </a:stretch>
          </a:blipFill>
          <a:ln>
            <a:noFill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FDFDFF"/>
            </a:gs>
            <a:gs pos="100000">
              <a:srgbClr val="DBEEEE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9" name="Google Shape;159;p17"/>
          <p:cNvGrpSpPr/>
          <p:nvPr/>
        </p:nvGrpSpPr>
        <p:grpSpPr>
          <a:xfrm>
            <a:off x="0" y="9113639"/>
            <a:ext cx="18288000" cy="1173361"/>
            <a:chOff x="0" y="-38100"/>
            <a:chExt cx="4816593" cy="309033"/>
          </a:xfrm>
        </p:grpSpPr>
        <p:sp>
          <p:nvSpPr>
            <p:cNvPr id="160" name="Google Shape;160;p17"/>
            <p:cNvSpPr/>
            <p:nvPr/>
          </p:nvSpPr>
          <p:spPr>
            <a:xfrm>
              <a:off x="0" y="0"/>
              <a:ext cx="4816592" cy="270933"/>
            </a:xfrm>
            <a:custGeom>
              <a:rect b="b" l="l" r="r" t="t"/>
              <a:pathLst>
                <a:path extrusionOk="0"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21436F"/>
            </a:solidFill>
            <a:ln>
              <a:noFill/>
            </a:ln>
          </p:spPr>
        </p:sp>
        <p:sp>
          <p:nvSpPr>
            <p:cNvPr id="161" name="Google Shape;161;p17"/>
            <p:cNvSpPr txBox="1"/>
            <p:nvPr/>
          </p:nvSpPr>
          <p:spPr>
            <a:xfrm>
              <a:off x="0" y="-38100"/>
              <a:ext cx="4816593" cy="3090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2" name="Google Shape;162;p17"/>
          <p:cNvSpPr txBox="1"/>
          <p:nvPr/>
        </p:nvSpPr>
        <p:spPr>
          <a:xfrm>
            <a:off x="4095304" y="389964"/>
            <a:ext cx="10097393" cy="10376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23" u="none" cap="none" strike="noStrike">
                <a:solidFill>
                  <a:srgbClr val="000000"/>
                </a:solidFill>
                <a:latin typeface="IBM Plex Mono"/>
                <a:ea typeface="IBM Plex Mono"/>
                <a:cs typeface="IBM Plex Mono"/>
                <a:sym typeface="IBM Plex Mono"/>
              </a:rPr>
              <a:t>IMPORTANT INSTRUCTIONS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37641" y="2365142"/>
            <a:ext cx="15699900" cy="41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67030" lvl="1" marL="734059" marR="0" rtl="0" algn="l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99"/>
              <a:buFont typeface="Libre Baskerville"/>
              <a:buAutoNum type="arabicPeriod"/>
            </a:pPr>
            <a:r>
              <a:rPr b="0" i="0" lang="en-US" sz="3399" u="none" cap="none" strike="noStrike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Maximum </a:t>
            </a:r>
            <a:r>
              <a:rPr lang="en-US" sz="3399">
                <a:latin typeface="Libre Baskerville"/>
                <a:ea typeface="Libre Baskerville"/>
                <a:cs typeface="Libre Baskerville"/>
                <a:sym typeface="Libre Baskerville"/>
              </a:rPr>
              <a:t>4</a:t>
            </a:r>
            <a:r>
              <a:rPr b="0" i="0" lang="en-US" sz="3399" u="none" cap="none" strike="noStrike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 slides only (excluding this slide)</a:t>
            </a:r>
            <a:endParaRPr/>
          </a:p>
          <a:p>
            <a:pPr indent="-367030" lvl="1" marL="734059" marR="0" rtl="0" algn="l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99"/>
              <a:buFont typeface="Libre Baskerville"/>
              <a:buAutoNum type="arabicPeriod"/>
            </a:pPr>
            <a:r>
              <a:rPr b="0" i="0" lang="en-US" sz="3399" u="none" cap="none" strike="noStrike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Do not change slide order or headings</a:t>
            </a:r>
            <a:endParaRPr/>
          </a:p>
          <a:p>
            <a:pPr indent="-367030" lvl="1" marL="734059" marR="0" rtl="0" algn="l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99"/>
              <a:buFont typeface="Libre Baskerville"/>
              <a:buAutoNum type="arabicPeriod"/>
            </a:pPr>
            <a:r>
              <a:rPr b="0" i="0" lang="en-US" sz="3399" u="none" cap="none" strike="noStrike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Avoid long paragraphs</a:t>
            </a:r>
            <a:endParaRPr/>
          </a:p>
          <a:p>
            <a:pPr indent="-367030" lvl="1" marL="734059" marR="0" rtl="0" algn="l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99"/>
              <a:buFont typeface="Libre Baskerville"/>
              <a:buAutoNum type="arabicPeriod"/>
            </a:pPr>
            <a:r>
              <a:rPr b="0" i="0" lang="en-US" sz="3399" u="none" cap="none" strike="noStrike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Use bullets, diagrams, images, flowcharts</a:t>
            </a:r>
            <a:endParaRPr/>
          </a:p>
          <a:p>
            <a:pPr indent="-367030" lvl="1" marL="734059" marR="0" rtl="0" algn="l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99"/>
              <a:buFont typeface="Libre Baskerville"/>
              <a:buAutoNum type="arabicPeriod"/>
            </a:pPr>
            <a:r>
              <a:rPr b="0" i="0" lang="en-US" sz="3399" u="none" cap="none" strike="noStrike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PPT must be original work of the team</a:t>
            </a:r>
            <a:endParaRPr/>
          </a:p>
          <a:p>
            <a:pPr indent="-367030" lvl="1" marL="734059" marR="0" rtl="0" algn="l">
              <a:lnSpc>
                <a:spcPct val="14001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99"/>
              <a:buFont typeface="Libre Baskerville"/>
              <a:buAutoNum type="arabicPeriod"/>
            </a:pPr>
            <a:r>
              <a:rPr b="0" i="0" lang="en-US" sz="3399" u="none" cap="none" strike="noStrike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File name format: TeamName_Genesis2.0_FE/SE/TE/BE/MCA</a:t>
            </a:r>
            <a:endParaRPr/>
          </a:p>
        </p:txBody>
      </p:sp>
      <p:grpSp>
        <p:nvGrpSpPr>
          <p:cNvPr id="164" name="Google Shape;164;p17"/>
          <p:cNvGrpSpPr/>
          <p:nvPr/>
        </p:nvGrpSpPr>
        <p:grpSpPr>
          <a:xfrm>
            <a:off x="191375" y="118562"/>
            <a:ext cx="1292532" cy="1302817"/>
            <a:chOff x="0" y="0"/>
            <a:chExt cx="1723376" cy="1737090"/>
          </a:xfrm>
        </p:grpSpPr>
        <p:grpSp>
          <p:nvGrpSpPr>
            <p:cNvPr id="165" name="Google Shape;165;p17"/>
            <p:cNvGrpSpPr/>
            <p:nvPr/>
          </p:nvGrpSpPr>
          <p:grpSpPr>
            <a:xfrm>
              <a:off x="94119" y="59143"/>
              <a:ext cx="1540538" cy="1540538"/>
              <a:chOff x="0" y="0"/>
              <a:chExt cx="812800" cy="812800"/>
            </a:xfrm>
          </p:grpSpPr>
          <p:sp>
            <p:nvSpPr>
              <p:cNvPr id="166" name="Google Shape;166;p1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rect b="b" l="l" r="r" t="t"/>
                <a:pathLst>
                  <a:path extrusionOk="0"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A1D2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17"/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25450" lIns="25450" spcFirstLastPara="1" rIns="25450" wrap="square" tIns="25450">
                <a:noAutofit/>
              </a:bodyPr>
              <a:lstStyle/>
              <a:p>
                <a:pPr indent="0" lvl="0" marL="0" marR="0" rtl="0" algn="ctr">
                  <a:lnSpc>
                    <a:spcPct val="108833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68" name="Google Shape;168;p17"/>
            <p:cNvSpPr/>
            <p:nvPr/>
          </p:nvSpPr>
          <p:spPr>
            <a:xfrm>
              <a:off x="0" y="0"/>
              <a:ext cx="1723376" cy="1737090"/>
            </a:xfrm>
            <a:custGeom>
              <a:rect b="b" l="l" r="r" t="t"/>
              <a:pathLst>
                <a:path extrusionOk="0" h="1737090" w="1723376">
                  <a:moveTo>
                    <a:pt x="0" y="0"/>
                  </a:moveTo>
                  <a:lnTo>
                    <a:pt x="1723376" y="0"/>
                  </a:lnTo>
                  <a:lnTo>
                    <a:pt x="1723376" y="1737090"/>
                  </a:lnTo>
                  <a:lnTo>
                    <a:pt x="0" y="173709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</p:sp>
      </p:grpSp>
      <p:sp>
        <p:nvSpPr>
          <p:cNvPr id="169" name="Google Shape;169;p17"/>
          <p:cNvSpPr/>
          <p:nvPr/>
        </p:nvSpPr>
        <p:spPr>
          <a:xfrm>
            <a:off x="16793950" y="135950"/>
            <a:ext cx="1259674" cy="1259478"/>
          </a:xfrm>
          <a:custGeom>
            <a:rect b="b" l="l" r="r" t="t"/>
            <a:pathLst>
              <a:path extrusionOk="0" h="1259478" w="1259674">
                <a:moveTo>
                  <a:pt x="0" y="0"/>
                </a:moveTo>
                <a:lnTo>
                  <a:pt x="1259674" y="0"/>
                </a:lnTo>
                <a:lnTo>
                  <a:pt x="1259674" y="1259478"/>
                </a:lnTo>
                <a:lnTo>
                  <a:pt x="0" y="12594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-90299" t="-5830"/>
            </a:stretch>
          </a:blipFill>
          <a:ln>
            <a:noFill/>
          </a:ln>
        </p:spPr>
      </p:sp>
      <p:sp>
        <p:nvSpPr>
          <p:cNvPr id="170" name="Google Shape;170;p17"/>
          <p:cNvSpPr/>
          <p:nvPr/>
        </p:nvSpPr>
        <p:spPr>
          <a:xfrm>
            <a:off x="5242694" y="1637105"/>
            <a:ext cx="7187454" cy="7186335"/>
          </a:xfrm>
          <a:custGeom>
            <a:rect b="b" l="l" r="r" t="t"/>
            <a:pathLst>
              <a:path extrusionOk="0" h="7186335" w="7187454">
                <a:moveTo>
                  <a:pt x="0" y="0"/>
                </a:moveTo>
                <a:lnTo>
                  <a:pt x="7187454" y="0"/>
                </a:lnTo>
                <a:lnTo>
                  <a:pt x="7187454" y="7186335"/>
                </a:lnTo>
                <a:lnTo>
                  <a:pt x="0" y="718633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 amt="5000"/>
            </a:blip>
            <a:stretch>
              <a:fillRect b="0" l="0" r="-90299" t="-5830"/>
            </a:stretch>
          </a:blipFill>
          <a:ln>
            <a:noFill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