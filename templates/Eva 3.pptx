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10287000" cx="18288000"/>
  <p:notesSz cx="6858000" cy="9144000"/>
  <p:embeddedFontLst>
    <p:embeddedFont>
      <p:font typeface="Libre Baskerville"/>
      <p:regular r:id="rId12"/>
      <p:bold r:id="rId13"/>
      <p:italic r:id="rId14"/>
      <p:boldItalic r:id="rId15"/>
    </p:embeddedFont>
    <p:embeddedFont>
      <p:font typeface="IBM Plex Mono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ibreBaskerville-bold.fntdata"/><Relationship Id="rId12" Type="http://schemas.openxmlformats.org/officeDocument/2006/relationships/font" Target="fonts/LibreBaskervill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Baskerville-boldItalic.fntdata"/><Relationship Id="rId14" Type="http://schemas.openxmlformats.org/officeDocument/2006/relationships/font" Target="fonts/LibreBaskerville-italic.fntdata"/><Relationship Id="rId17" Type="http://schemas.openxmlformats.org/officeDocument/2006/relationships/font" Target="fonts/IBMPlexMono-boldItalic.fntdata"/><Relationship Id="rId16" Type="http://schemas.openxmlformats.org/officeDocument/2006/relationships/font" Target="fonts/IBMPlexMon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0287189" y="1666729"/>
            <a:ext cx="8273375" cy="8944559"/>
          </a:xfrm>
          <a:custGeom>
            <a:rect b="b" l="l" r="r" t="t"/>
            <a:pathLst>
              <a:path extrusionOk="0" h="8944559" w="8273375">
                <a:moveTo>
                  <a:pt x="0" y="0"/>
                </a:moveTo>
                <a:lnTo>
                  <a:pt x="8273374" y="0"/>
                </a:lnTo>
                <a:lnTo>
                  <a:pt x="8273374" y="8944559"/>
                </a:lnTo>
                <a:lnTo>
                  <a:pt x="0" y="89445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82000"/>
            </a:blip>
            <a:stretch>
              <a:fillRect b="-69328" l="0" r="0" t="0"/>
            </a:stretch>
          </a:blipFill>
          <a:ln>
            <a:noFill/>
          </a:ln>
        </p:spPr>
      </p:sp>
      <p:grpSp>
        <p:nvGrpSpPr>
          <p:cNvPr id="85" name="Google Shape;85;p1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444466"/>
            </a:solidFill>
            <a:ln>
              <a:noFill/>
            </a:ln>
          </p:spPr>
        </p:sp>
        <p:sp>
          <p:nvSpPr>
            <p:cNvPr id="87" name="Google Shape;87;p1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13341723" y="188798"/>
            <a:ext cx="1204279" cy="1213862"/>
            <a:chOff x="0" y="0"/>
            <a:chExt cx="1605706" cy="1618483"/>
          </a:xfrm>
        </p:grpSpPr>
        <p:grpSp>
          <p:nvGrpSpPr>
            <p:cNvPr id="89" name="Google Shape;89;p13"/>
            <p:cNvGrpSpPr/>
            <p:nvPr/>
          </p:nvGrpSpPr>
          <p:grpSpPr>
            <a:xfrm>
              <a:off x="87692" y="55104"/>
              <a:ext cx="1435352" cy="1435352"/>
              <a:chOff x="0" y="0"/>
              <a:chExt cx="812800" cy="812800"/>
            </a:xfrm>
          </p:grpSpPr>
          <p:sp>
            <p:nvSpPr>
              <p:cNvPr id="90" name="Google Shape;9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2" name="Google Shape;92;p13"/>
            <p:cNvSpPr/>
            <p:nvPr/>
          </p:nvSpPr>
          <p:spPr>
            <a:xfrm>
              <a:off x="0" y="0"/>
              <a:ext cx="1605706" cy="1618483"/>
            </a:xfrm>
            <a:custGeom>
              <a:rect b="b" l="l" r="r" t="t"/>
              <a:pathLst>
                <a:path extrusionOk="0" h="1618483" w="1605706">
                  <a:moveTo>
                    <a:pt x="0" y="0"/>
                  </a:moveTo>
                  <a:lnTo>
                    <a:pt x="1605706" y="0"/>
                  </a:lnTo>
                  <a:lnTo>
                    <a:pt x="1605706" y="1618483"/>
                  </a:lnTo>
                  <a:lnTo>
                    <a:pt x="0" y="161848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93" name="Google Shape;93;p13"/>
          <p:cNvSpPr/>
          <p:nvPr/>
        </p:nvSpPr>
        <p:spPr>
          <a:xfrm>
            <a:off x="14837583" y="0"/>
            <a:ext cx="3261238" cy="1591459"/>
          </a:xfrm>
          <a:custGeom>
            <a:rect b="b" l="l" r="r" t="t"/>
            <a:pathLst>
              <a:path extrusionOk="0" h="1591459" w="3261238">
                <a:moveTo>
                  <a:pt x="0" y="0"/>
                </a:moveTo>
                <a:lnTo>
                  <a:pt x="3261237" y="0"/>
                </a:lnTo>
                <a:lnTo>
                  <a:pt x="3261237" y="1591459"/>
                </a:lnTo>
                <a:lnTo>
                  <a:pt x="0" y="1591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>
            <a:off x="766837" y="188798"/>
            <a:ext cx="7030275" cy="2539687"/>
          </a:xfrm>
          <a:custGeom>
            <a:rect b="b" l="l" r="r" t="t"/>
            <a:pathLst>
              <a:path extrusionOk="0" h="2539687" w="7030275">
                <a:moveTo>
                  <a:pt x="0" y="0"/>
                </a:moveTo>
                <a:lnTo>
                  <a:pt x="7030274" y="0"/>
                </a:lnTo>
                <a:lnTo>
                  <a:pt x="7030274" y="2539687"/>
                </a:lnTo>
                <a:lnTo>
                  <a:pt x="0" y="2539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13"/>
          <p:cNvSpPr txBox="1"/>
          <p:nvPr/>
        </p:nvSpPr>
        <p:spPr>
          <a:xfrm>
            <a:off x="766837" y="6069797"/>
            <a:ext cx="9392125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MEMBERS:-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751699" y="3220359"/>
            <a:ext cx="3656301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TRACK:- EVA 03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751699" y="4169635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PROBLEM STATEMENT ID:-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751699" y="5119716"/>
            <a:ext cx="9407263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NAME:- 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4892840" y="6069797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1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4892840" y="6685393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2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4892840" y="7300988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3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4892840" y="7916584"/>
            <a:ext cx="5266122" cy="5750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27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MEMBER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/>
          <p:nvPr/>
        </p:nvSpPr>
        <p:spPr>
          <a:xfrm>
            <a:off x="5242694" y="1421379"/>
            <a:ext cx="7358091" cy="6967486"/>
          </a:xfrm>
          <a:custGeom>
            <a:rect b="b" l="l" r="r" t="t"/>
            <a:pathLst>
              <a:path extrusionOk="0" h="6967486" w="7358091">
                <a:moveTo>
                  <a:pt x="0" y="0"/>
                </a:moveTo>
                <a:lnTo>
                  <a:pt x="7358091" y="0"/>
                </a:lnTo>
                <a:lnTo>
                  <a:pt x="7358091" y="6967486"/>
                </a:lnTo>
                <a:lnTo>
                  <a:pt x="0" y="696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 b="-5606" l="0" r="0" t="0"/>
            </a:stretch>
          </a:blipFill>
          <a:ln>
            <a:noFill/>
          </a:ln>
        </p:spPr>
      </p:sp>
      <p:grpSp>
        <p:nvGrpSpPr>
          <p:cNvPr id="108" name="Google Shape;108;p14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09" name="Google Shape;109;p14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444466"/>
            </a:solidFill>
            <a:ln>
              <a:noFill/>
            </a:ln>
          </p:spPr>
        </p:sp>
        <p:sp>
          <p:nvSpPr>
            <p:cNvPr id="110" name="Google Shape;110;p1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4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12" name="Google Shape;112;p14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" name="Google Shape;115;p14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16" name="Google Shape;116;p14"/>
          <p:cNvSpPr txBox="1"/>
          <p:nvPr/>
        </p:nvSpPr>
        <p:spPr>
          <a:xfrm>
            <a:off x="5242694" y="375193"/>
            <a:ext cx="7802612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PROPOSED SOLUTION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294033" y="2070920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Define the problem and describe your proposed solution, including its core idea and target users.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Features</a:t>
            </a: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Highlight the main features of your solution.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Unique Selling Proposition (USP)</a:t>
            </a: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Explain what makes your solution different from existing alternatives.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16703417" y="89987"/>
            <a:ext cx="1349524" cy="1277884"/>
          </a:xfrm>
          <a:custGeom>
            <a:rect b="b" l="l" r="r" t="t"/>
            <a:pathLst>
              <a:path extrusionOk="0" h="1277884" w="1349524">
                <a:moveTo>
                  <a:pt x="0" y="0"/>
                </a:moveTo>
                <a:lnTo>
                  <a:pt x="1349524" y="0"/>
                </a:lnTo>
                <a:lnTo>
                  <a:pt x="1349524" y="1277885"/>
                </a:lnTo>
                <a:lnTo>
                  <a:pt x="0" y="1277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06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15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24" name="Google Shape;124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444466"/>
            </a:solidFill>
            <a:ln>
              <a:noFill/>
            </a:ln>
          </p:spPr>
        </p:sp>
        <p:sp>
          <p:nvSpPr>
            <p:cNvPr id="125" name="Google Shape;125;p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" name="Google Shape;126;p15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28" name="Google Shape;128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" name="Google Shape;130;p15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31" name="Google Shape;131;p15"/>
          <p:cNvSpPr txBox="1"/>
          <p:nvPr/>
        </p:nvSpPr>
        <p:spPr>
          <a:xfrm>
            <a:off x="5013201" y="375193"/>
            <a:ext cx="8261598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TECHNICAL APPROACH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294033" y="2287757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List the technologies, frameworks, and tools used, with a brief justification for their selection.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Present a system architecture diagram highlighting key components, data flow, integrations, and interactions between components. Briefly explain how inputs are processed and outputs are generated.</a:t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16703417" y="89987"/>
            <a:ext cx="1349524" cy="1277884"/>
          </a:xfrm>
          <a:custGeom>
            <a:rect b="b" l="l" r="r" t="t"/>
            <a:pathLst>
              <a:path extrusionOk="0" h="1277884" w="1349524">
                <a:moveTo>
                  <a:pt x="0" y="0"/>
                </a:moveTo>
                <a:lnTo>
                  <a:pt x="1349524" y="0"/>
                </a:lnTo>
                <a:lnTo>
                  <a:pt x="1349524" y="1277885"/>
                </a:lnTo>
                <a:lnTo>
                  <a:pt x="0" y="1277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606" l="0" r="0" t="0"/>
            </a:stretch>
          </a:blipFill>
          <a:ln>
            <a:noFill/>
          </a:ln>
        </p:spPr>
      </p:sp>
      <p:sp>
        <p:nvSpPr>
          <p:cNvPr id="134" name="Google Shape;134;p15"/>
          <p:cNvSpPr/>
          <p:nvPr/>
        </p:nvSpPr>
        <p:spPr>
          <a:xfrm>
            <a:off x="5242694" y="1421379"/>
            <a:ext cx="7358091" cy="6967486"/>
          </a:xfrm>
          <a:custGeom>
            <a:rect b="b" l="l" r="r" t="t"/>
            <a:pathLst>
              <a:path extrusionOk="0" h="6967486" w="7358091">
                <a:moveTo>
                  <a:pt x="0" y="0"/>
                </a:moveTo>
                <a:lnTo>
                  <a:pt x="7358091" y="0"/>
                </a:lnTo>
                <a:lnTo>
                  <a:pt x="7358091" y="6967486"/>
                </a:lnTo>
                <a:lnTo>
                  <a:pt x="0" y="696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-5606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6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444466"/>
            </a:solid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16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43" name="Google Shape;143;p16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44" name="Google Shape;144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" name="Google Shape;146;p16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7" name="Google Shape;147;p16"/>
          <p:cNvSpPr txBox="1"/>
          <p:nvPr/>
        </p:nvSpPr>
        <p:spPr>
          <a:xfrm>
            <a:off x="4786741" y="383756"/>
            <a:ext cx="8755743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END TO END WORKFLOW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297140" y="2307564"/>
            <a:ext cx="15699934" cy="2380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Show the step-by-step working of your solution, from user input to the final output using workflow diagram.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 may optionally embed a 2-3 minute demo video showcasing your working prototype, key features or the solution in action.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16703417" y="89987"/>
            <a:ext cx="1349524" cy="1277884"/>
          </a:xfrm>
          <a:custGeom>
            <a:rect b="b" l="l" r="r" t="t"/>
            <a:pathLst>
              <a:path extrusionOk="0" h="1277884" w="1349524">
                <a:moveTo>
                  <a:pt x="0" y="0"/>
                </a:moveTo>
                <a:lnTo>
                  <a:pt x="1349524" y="0"/>
                </a:lnTo>
                <a:lnTo>
                  <a:pt x="1349524" y="1277885"/>
                </a:lnTo>
                <a:lnTo>
                  <a:pt x="0" y="1277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606" l="0" r="0" t="0"/>
            </a:stretch>
          </a:blipFill>
          <a:ln>
            <a:noFill/>
          </a:ln>
        </p:spPr>
      </p:sp>
      <p:sp>
        <p:nvSpPr>
          <p:cNvPr id="150" name="Google Shape;150;p16"/>
          <p:cNvSpPr/>
          <p:nvPr/>
        </p:nvSpPr>
        <p:spPr>
          <a:xfrm>
            <a:off x="5242694" y="1421379"/>
            <a:ext cx="7358091" cy="6967486"/>
          </a:xfrm>
          <a:custGeom>
            <a:rect b="b" l="l" r="r" t="t"/>
            <a:pathLst>
              <a:path extrusionOk="0" h="6967486" w="7358091">
                <a:moveTo>
                  <a:pt x="0" y="0"/>
                </a:moveTo>
                <a:lnTo>
                  <a:pt x="7358091" y="0"/>
                </a:lnTo>
                <a:lnTo>
                  <a:pt x="7358091" y="6967486"/>
                </a:lnTo>
                <a:lnTo>
                  <a:pt x="0" y="696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-5606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444466"/>
            </a:solidFill>
            <a:ln>
              <a:noFill/>
            </a:ln>
          </p:spPr>
        </p:sp>
        <p:sp>
          <p:nvSpPr>
            <p:cNvPr id="157" name="Google Shape;157;p17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59" name="Google Shape;159;p17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60" name="Google Shape;160;p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" name="Google Shape;162;p17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63" name="Google Shape;163;p17"/>
          <p:cNvSpPr txBox="1"/>
          <p:nvPr/>
        </p:nvSpPr>
        <p:spPr>
          <a:xfrm>
            <a:off x="3406676" y="383756"/>
            <a:ext cx="11474648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 SCOPE &amp; REFERENCES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1028700" y="1911027"/>
            <a:ext cx="15699934" cy="298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Mention potential improvements, new features, scalability, real-world deployment, and integration possibilities.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List the research, datasets, and technologies used, with relevant source links.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16703417" y="89987"/>
            <a:ext cx="1349524" cy="1277884"/>
          </a:xfrm>
          <a:custGeom>
            <a:rect b="b" l="l" r="r" t="t"/>
            <a:pathLst>
              <a:path extrusionOk="0" h="1277884" w="1349524">
                <a:moveTo>
                  <a:pt x="0" y="0"/>
                </a:moveTo>
                <a:lnTo>
                  <a:pt x="1349524" y="0"/>
                </a:lnTo>
                <a:lnTo>
                  <a:pt x="1349524" y="1277885"/>
                </a:lnTo>
                <a:lnTo>
                  <a:pt x="0" y="1277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606" l="0" r="0" t="0"/>
            </a:stretch>
          </a:blipFill>
          <a:ln>
            <a:noFill/>
          </a:ln>
        </p:spPr>
      </p:sp>
      <p:sp>
        <p:nvSpPr>
          <p:cNvPr id="166" name="Google Shape;166;p17"/>
          <p:cNvSpPr/>
          <p:nvPr/>
        </p:nvSpPr>
        <p:spPr>
          <a:xfrm>
            <a:off x="5242694" y="1421379"/>
            <a:ext cx="7358091" cy="6967486"/>
          </a:xfrm>
          <a:custGeom>
            <a:rect b="b" l="l" r="r" t="t"/>
            <a:pathLst>
              <a:path extrusionOk="0" h="6967486" w="7358091">
                <a:moveTo>
                  <a:pt x="0" y="0"/>
                </a:moveTo>
                <a:lnTo>
                  <a:pt x="7358091" y="0"/>
                </a:lnTo>
                <a:lnTo>
                  <a:pt x="7358091" y="6967486"/>
                </a:lnTo>
                <a:lnTo>
                  <a:pt x="0" y="696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-5606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FDFF"/>
            </a:gs>
            <a:gs pos="100000">
              <a:srgbClr val="DBEEEE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18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172" name="Google Shape;172;p18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444466"/>
            </a:solidFill>
            <a:ln>
              <a:noFill/>
            </a:ln>
          </p:spPr>
        </p:sp>
        <p:sp>
          <p:nvSpPr>
            <p:cNvPr id="173" name="Google Shape;173;p18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18"/>
          <p:cNvGrpSpPr/>
          <p:nvPr/>
        </p:nvGrpSpPr>
        <p:grpSpPr>
          <a:xfrm>
            <a:off x="191375" y="118562"/>
            <a:ext cx="1292532" cy="1302817"/>
            <a:chOff x="0" y="0"/>
            <a:chExt cx="1723376" cy="1737090"/>
          </a:xfrm>
        </p:grpSpPr>
        <p:grpSp>
          <p:nvGrpSpPr>
            <p:cNvPr id="175" name="Google Shape;175;p18"/>
            <p:cNvGrpSpPr/>
            <p:nvPr/>
          </p:nvGrpSpPr>
          <p:grpSpPr>
            <a:xfrm>
              <a:off x="94119" y="59143"/>
              <a:ext cx="1540538" cy="1540538"/>
              <a:chOff x="0" y="0"/>
              <a:chExt cx="812800" cy="812800"/>
            </a:xfrm>
          </p:grpSpPr>
          <p:sp>
            <p:nvSpPr>
              <p:cNvPr id="176" name="Google Shape;176;p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A1D2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5450" lIns="25450" spcFirstLastPara="1" rIns="25450" wrap="square" tIns="25450">
                <a:noAutofit/>
              </a:bodyPr>
              <a:lstStyle/>
              <a:p>
                <a:pPr indent="0" lvl="0" marL="0" marR="0" rtl="0" algn="ctr">
                  <a:lnSpc>
                    <a:spcPct val="108833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8" name="Google Shape;178;p18"/>
            <p:cNvSpPr/>
            <p:nvPr/>
          </p:nvSpPr>
          <p:spPr>
            <a:xfrm>
              <a:off x="0" y="0"/>
              <a:ext cx="1723376" cy="1737090"/>
            </a:xfrm>
            <a:custGeom>
              <a:rect b="b" l="l" r="r" t="t"/>
              <a:pathLst>
                <a:path extrusionOk="0" h="1737090" w="1723376">
                  <a:moveTo>
                    <a:pt x="0" y="0"/>
                  </a:moveTo>
                  <a:lnTo>
                    <a:pt x="1723376" y="0"/>
                  </a:lnTo>
                  <a:lnTo>
                    <a:pt x="1723376" y="1737090"/>
                  </a:lnTo>
                  <a:lnTo>
                    <a:pt x="0" y="173709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79" name="Google Shape;179;p18"/>
          <p:cNvSpPr txBox="1"/>
          <p:nvPr/>
        </p:nvSpPr>
        <p:spPr>
          <a:xfrm>
            <a:off x="4095304" y="389964"/>
            <a:ext cx="10097393" cy="10376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23" u="none" cap="none" strike="noStrike">
                <a:solidFill>
                  <a:srgbClr val="000000"/>
                </a:solidFill>
                <a:latin typeface="IBM Plex Mono"/>
                <a:ea typeface="IBM Plex Mono"/>
                <a:cs typeface="IBM Plex Mono"/>
                <a:sym typeface="IBM Plex Mono"/>
              </a:rPr>
              <a:t>IMPORTANT INSTRUCTIONS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37641" y="2365142"/>
            <a:ext cx="15699934" cy="3580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Maximum 5 slides only (excluding this slide)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 not change slide order or headings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Avoid long paragraphs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Use bullets, diagrams, images, flowcharts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PPT must be original work of the team</a:t>
            </a:r>
            <a:endParaRPr/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Libre Baskerville"/>
              <a:buAutoNum type="arabicPeriod"/>
            </a:pPr>
            <a:r>
              <a:rPr b="0" i="0" lang="en-US" sz="3399" u="none" cap="none" strike="noStrike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File name format: TeamName_Genesis2.0_FE/SE/TE/BE/MCA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16703417" y="89987"/>
            <a:ext cx="1349524" cy="1277884"/>
          </a:xfrm>
          <a:custGeom>
            <a:rect b="b" l="l" r="r" t="t"/>
            <a:pathLst>
              <a:path extrusionOk="0" h="1277884" w="1349524">
                <a:moveTo>
                  <a:pt x="0" y="0"/>
                </a:moveTo>
                <a:lnTo>
                  <a:pt x="1349524" y="0"/>
                </a:lnTo>
                <a:lnTo>
                  <a:pt x="1349524" y="1277885"/>
                </a:lnTo>
                <a:lnTo>
                  <a:pt x="0" y="12778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606" l="0" r="0" t="0"/>
            </a:stretch>
          </a:blipFill>
          <a:ln>
            <a:noFill/>
          </a:ln>
        </p:spPr>
      </p:sp>
      <p:sp>
        <p:nvSpPr>
          <p:cNvPr id="182" name="Google Shape;182;p18"/>
          <p:cNvSpPr/>
          <p:nvPr/>
        </p:nvSpPr>
        <p:spPr>
          <a:xfrm>
            <a:off x="5242694" y="1421379"/>
            <a:ext cx="7358091" cy="6967486"/>
          </a:xfrm>
          <a:custGeom>
            <a:rect b="b" l="l" r="r" t="t"/>
            <a:pathLst>
              <a:path extrusionOk="0" h="6967486" w="7358091">
                <a:moveTo>
                  <a:pt x="0" y="0"/>
                </a:moveTo>
                <a:lnTo>
                  <a:pt x="7358091" y="0"/>
                </a:lnTo>
                <a:lnTo>
                  <a:pt x="7358091" y="6967486"/>
                </a:lnTo>
                <a:lnTo>
                  <a:pt x="0" y="69674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"/>
            </a:blip>
            <a:stretch>
              <a:fillRect b="-5606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