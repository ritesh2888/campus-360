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Libre Baskerville"/>
      <p:bold r:id="rId11"/>
      <p:boldItalic r:id="rId12"/>
    </p:embeddedFont>
    <p:embeddedFont>
      <p:font typeface="IBM Plex Mono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bold.fntdata"/><Relationship Id="rId10" Type="http://schemas.openxmlformats.org/officeDocument/2006/relationships/slide" Target="slides/slide5.xml"/><Relationship Id="rId13" Type="http://schemas.openxmlformats.org/officeDocument/2006/relationships/font" Target="fonts/IBMPlexMono-bold.fntdata"/><Relationship Id="rId12" Type="http://schemas.openxmlformats.org/officeDocument/2006/relationships/font" Target="fonts/LibreBaskervill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BMPlex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e9dd792a08fb2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3e9dd792a08fb2a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1436F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11714786" y="1402661"/>
            <a:ext cx="5254203" cy="7855639"/>
          </a:xfrm>
          <a:custGeom>
            <a:rect b="b" l="l" r="r" t="t"/>
            <a:pathLst>
              <a:path extrusionOk="0" h="7855639" w="5254203">
                <a:moveTo>
                  <a:pt x="0" y="0"/>
                </a:moveTo>
                <a:lnTo>
                  <a:pt x="5254203" y="0"/>
                </a:lnTo>
                <a:lnTo>
                  <a:pt x="5254203" y="7855639"/>
                </a:lnTo>
                <a:lnTo>
                  <a:pt x="0" y="7855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2000"/>
            </a:blip>
            <a:stretch>
              <a:fillRect b="-11706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751699" y="-305242"/>
            <a:ext cx="6829722" cy="3841719"/>
          </a:xfrm>
          <a:custGeom>
            <a:rect b="b" l="l" r="r" t="t"/>
            <a:pathLst>
              <a:path extrusionOk="0" h="3841719" w="6829722">
                <a:moveTo>
                  <a:pt x="0" y="0"/>
                </a:moveTo>
                <a:lnTo>
                  <a:pt x="6829722" y="0"/>
                </a:lnTo>
                <a:lnTo>
                  <a:pt x="6829722" y="3841718"/>
                </a:lnTo>
                <a:lnTo>
                  <a:pt x="0" y="3841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p13"/>
          <p:cNvGrpSpPr/>
          <p:nvPr/>
        </p:nvGrpSpPr>
        <p:grpSpPr>
          <a:xfrm>
            <a:off x="13341723" y="188798"/>
            <a:ext cx="1204279" cy="1213862"/>
            <a:chOff x="0" y="0"/>
            <a:chExt cx="1605706" cy="1618483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87692" y="55104"/>
              <a:ext cx="1435352" cy="1435352"/>
              <a:chOff x="0" y="0"/>
              <a:chExt cx="812800" cy="812800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/>
            <p:nvPr/>
          </p:nvSpPr>
          <p:spPr>
            <a:xfrm>
              <a:off x="0" y="0"/>
              <a:ext cx="1605706" cy="1618483"/>
            </a:xfrm>
            <a:custGeom>
              <a:rect b="b" l="l" r="r" t="t"/>
              <a:pathLst>
                <a:path extrusionOk="0" h="1618483" w="1605706">
                  <a:moveTo>
                    <a:pt x="0" y="0"/>
                  </a:moveTo>
                  <a:lnTo>
                    <a:pt x="1605706" y="0"/>
                  </a:lnTo>
                  <a:lnTo>
                    <a:pt x="1605706" y="1618483"/>
                  </a:lnTo>
                  <a:lnTo>
                    <a:pt x="0" y="16184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4" name="Google Shape;94;p13"/>
          <p:cNvSpPr/>
          <p:nvPr/>
        </p:nvSpPr>
        <p:spPr>
          <a:xfrm>
            <a:off x="14837583" y="0"/>
            <a:ext cx="3261238" cy="1591459"/>
          </a:xfrm>
          <a:custGeom>
            <a:rect b="b" l="l" r="r" t="t"/>
            <a:pathLst>
              <a:path extrusionOk="0" h="1591459" w="3261238">
                <a:moveTo>
                  <a:pt x="0" y="0"/>
                </a:moveTo>
                <a:lnTo>
                  <a:pt x="3261237" y="0"/>
                </a:lnTo>
                <a:lnTo>
                  <a:pt x="3261237" y="1591459"/>
                </a:lnTo>
                <a:lnTo>
                  <a:pt x="0" y="1591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766837" y="6069797"/>
            <a:ext cx="9392125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MEMBERS:-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1699" y="3220359"/>
            <a:ext cx="3656301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TRACK:- EVA 01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51699" y="4169635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STATEMENT ID:-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51699" y="5119716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NAME:-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892840" y="6069797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1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892840" y="6685393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2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92840" y="7300988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3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892840" y="7916584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545138" y="1752917"/>
            <a:ext cx="8133300" cy="7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Explain the problem in 2–3 simple points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Who faces this problem?</a:t>
            </a:r>
            <a:endParaRPr/>
          </a:p>
          <a:p>
            <a:pPr indent="-323851" lvl="1" marL="64770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is it difficult to solve currently?</a:t>
            </a:r>
            <a:endParaRPr b="0" i="0" sz="30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Solution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 propose a simple website/app that helps users [main purpose]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takes [input] from the user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processes the information and gives [output/result]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1436F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91375" y="118562"/>
            <a:ext cx="1284036" cy="1294254"/>
            <a:chOff x="0" y="0"/>
            <a:chExt cx="1712048" cy="1725672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93500" y="58754"/>
              <a:ext cx="1530413" cy="1530413"/>
              <a:chOff x="0" y="0"/>
              <a:chExt cx="812800" cy="8128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0" y="0"/>
              <a:ext cx="1712048" cy="1725672"/>
            </a:xfrm>
            <a:custGeom>
              <a:rect b="b" l="l" r="r" t="t"/>
              <a:pathLst>
                <a:path extrusionOk="0" h="1725672" w="1712048">
                  <a:moveTo>
                    <a:pt x="0" y="0"/>
                  </a:moveTo>
                  <a:lnTo>
                    <a:pt x="1712048" y="0"/>
                  </a:lnTo>
                  <a:lnTo>
                    <a:pt x="1712048" y="1725672"/>
                  </a:lnTo>
                  <a:lnTo>
                    <a:pt x="0" y="1725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6" name="Google Shape;116;p14"/>
          <p:cNvSpPr txBox="1"/>
          <p:nvPr/>
        </p:nvSpPr>
        <p:spPr>
          <a:xfrm>
            <a:off x="5242694" y="375193"/>
            <a:ext cx="7802612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 SOLUTION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679726" y="1817053"/>
            <a:ext cx="8133232" cy="449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One-line explanation per feature</a:t>
            </a:r>
            <a:endParaRPr/>
          </a:p>
          <a:p>
            <a:pPr indent="0" lvl="0" marL="0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Makes It Different from existing solution?</a:t>
            </a:r>
            <a:endParaRPr/>
          </a:p>
          <a:p>
            <a:pPr indent="-323849" lvl="1" marL="64769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Simple and easy to use</a:t>
            </a:r>
            <a:endParaRPr/>
          </a:p>
          <a:p>
            <a:pPr indent="-323849" lvl="1" marL="64769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Saves time and effort</a:t>
            </a:r>
            <a:endParaRPr/>
          </a:p>
          <a:p>
            <a:pPr indent="-323849" lvl="1" marL="64769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Provides [main advantage]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16793950" y="135950"/>
            <a:ext cx="1259674" cy="1259478"/>
          </a:xfrm>
          <a:custGeom>
            <a:rect b="b" l="l" r="r" t="t"/>
            <a:pathLst>
              <a:path extrusionOk="0" h="1259478" w="1259674">
                <a:moveTo>
                  <a:pt x="0" y="0"/>
                </a:moveTo>
                <a:lnTo>
                  <a:pt x="1259674" y="0"/>
                </a:lnTo>
                <a:lnTo>
                  <a:pt x="1259674" y="1259478"/>
                </a:lnTo>
                <a:lnTo>
                  <a:pt x="0" y="125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90299" t="-583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5242694" y="1637105"/>
            <a:ext cx="7187454" cy="7186335"/>
          </a:xfrm>
          <a:custGeom>
            <a:rect b="b" l="l" r="r" t="t"/>
            <a:pathLst>
              <a:path extrusionOk="0" h="7186335" w="7187454">
                <a:moveTo>
                  <a:pt x="0" y="0"/>
                </a:moveTo>
                <a:lnTo>
                  <a:pt x="7187454" y="0"/>
                </a:lnTo>
                <a:lnTo>
                  <a:pt x="7187454" y="7186335"/>
                </a:lnTo>
                <a:lnTo>
                  <a:pt x="0" y="7186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-90299" t="-583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1436F"/>
            </a:solidFill>
            <a:ln>
              <a:noFill/>
            </a:ln>
          </p:spPr>
        </p:sp>
        <p:sp>
          <p:nvSpPr>
            <p:cNvPr id="126" name="Google Shape;126;p15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191375" y="118562"/>
            <a:ext cx="1292532" cy="1302818"/>
            <a:chOff x="0" y="0"/>
            <a:chExt cx="1723376" cy="1737090"/>
          </a:xfrm>
        </p:grpSpPr>
        <p:grpSp>
          <p:nvGrpSpPr>
            <p:cNvPr id="128" name="Google Shape;128;p15"/>
            <p:cNvGrpSpPr/>
            <p:nvPr/>
          </p:nvGrpSpPr>
          <p:grpSpPr>
            <a:xfrm>
              <a:off x="94119" y="59143"/>
              <a:ext cx="1540500" cy="1540500"/>
              <a:chOff x="0" y="0"/>
              <a:chExt cx="812800" cy="812800"/>
            </a:xfrm>
          </p:grpSpPr>
          <p:sp>
            <p:nvSpPr>
              <p:cNvPr id="129" name="Google Shape;129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15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2" name="Google Shape;132;p15"/>
          <p:cNvSpPr txBox="1"/>
          <p:nvPr/>
        </p:nvSpPr>
        <p:spPr>
          <a:xfrm>
            <a:off x="1028700" y="445700"/>
            <a:ext cx="156999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 APPROACH &amp; </a:t>
            </a:r>
            <a:r>
              <a:rPr b="1" lang="en-US" sz="6023">
                <a:latin typeface="IBM Plex Mono"/>
                <a:ea typeface="IBM Plex Mono"/>
                <a:cs typeface="IBM Plex Mono"/>
                <a:sym typeface="IBM Plex Mono"/>
              </a:rPr>
              <a:t>WORKFLOW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64075" y="1463550"/>
            <a:ext cx="10653300" cy="79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Step 1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— </a:t>
            </a: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Input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enters or selects the required information.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↓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Step 2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— </a:t>
            </a: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Collection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system collects the required data.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↓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Step 3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— </a:t>
            </a: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Processing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The system processes and analyzes the data.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↓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Step 4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— </a:t>
            </a: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/ Prediction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The system generates the required result.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↓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Step 5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— </a:t>
            </a: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 Output</a:t>
            </a: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The result is shown to the user in a simple format.</a:t>
            </a:r>
            <a:endParaRPr sz="23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 (Optional):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a QR code/link to the working prototype or a 2–3 minute demo video.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4" name="Google Shape;134;p15"/>
          <p:cNvSpPr txBox="1"/>
          <p:nvPr/>
        </p:nvSpPr>
        <p:spPr>
          <a:xfrm>
            <a:off x="364075" y="4855625"/>
            <a:ext cx="709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1017498" y="1809750"/>
            <a:ext cx="6580200" cy="3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999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Technology &amp; Why we used it</a:t>
            </a:r>
            <a:endParaRPr sz="1000">
              <a:solidFill>
                <a:schemeClr val="dk1"/>
              </a:solidFill>
            </a:endParaRPr>
          </a:p>
          <a:p>
            <a:pPr indent="-298451" lvl="1" marL="64770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</a:t>
            </a:r>
            <a:endParaRPr sz="1000">
              <a:solidFill>
                <a:schemeClr val="dk1"/>
              </a:solidFill>
            </a:endParaRPr>
          </a:p>
          <a:p>
            <a:pPr indent="-298451" lvl="1" marL="64770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</a:t>
            </a:r>
            <a:endParaRPr sz="1000">
              <a:solidFill>
                <a:schemeClr val="dk1"/>
              </a:solidFill>
            </a:endParaRPr>
          </a:p>
          <a:p>
            <a:pPr indent="-298451" lvl="1" marL="64770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</a:t>
            </a:r>
            <a:endParaRPr sz="1000">
              <a:solidFill>
                <a:schemeClr val="dk1"/>
              </a:solidFill>
            </a:endParaRPr>
          </a:p>
          <a:p>
            <a:pPr indent="-298451" lvl="1" marL="64770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AI/ML (if applicable)</a:t>
            </a:r>
            <a:endParaRPr sz="1000">
              <a:solidFill>
                <a:schemeClr val="dk1"/>
              </a:solidFill>
            </a:endParaRPr>
          </a:p>
          <a:p>
            <a:pPr indent="-298451" lvl="1" marL="64770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(if applicable)</a:t>
            </a:r>
            <a:endParaRPr b="1" sz="2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6793950" y="135950"/>
            <a:ext cx="1259674" cy="1259478"/>
          </a:xfrm>
          <a:custGeom>
            <a:rect b="b" l="l" r="r" t="t"/>
            <a:pathLst>
              <a:path extrusionOk="0" h="1259478" w="1259674">
                <a:moveTo>
                  <a:pt x="0" y="0"/>
                </a:moveTo>
                <a:lnTo>
                  <a:pt x="1259674" y="0"/>
                </a:lnTo>
                <a:lnTo>
                  <a:pt x="1259674" y="1259478"/>
                </a:lnTo>
                <a:lnTo>
                  <a:pt x="0" y="125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90299" t="-5830"/>
            </a:stretch>
          </a:blipFill>
          <a:ln>
            <a:noFill/>
          </a:ln>
        </p:spPr>
      </p:sp>
      <p:sp>
        <p:nvSpPr>
          <p:cNvPr id="137" name="Google Shape;137;p15"/>
          <p:cNvSpPr/>
          <p:nvPr/>
        </p:nvSpPr>
        <p:spPr>
          <a:xfrm>
            <a:off x="5242694" y="1637105"/>
            <a:ext cx="7187454" cy="7186335"/>
          </a:xfrm>
          <a:custGeom>
            <a:rect b="b" l="l" r="r" t="t"/>
            <a:pathLst>
              <a:path extrusionOk="0" h="7186335" w="7187454">
                <a:moveTo>
                  <a:pt x="0" y="0"/>
                </a:moveTo>
                <a:lnTo>
                  <a:pt x="7187454" y="0"/>
                </a:lnTo>
                <a:lnTo>
                  <a:pt x="7187454" y="7186335"/>
                </a:lnTo>
                <a:lnTo>
                  <a:pt x="0" y="7186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-90299" t="-583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1436F"/>
            </a:solidFill>
            <a:ln>
              <a:noFill/>
            </a:ln>
          </p:spPr>
        </p:sp>
        <p:sp>
          <p:nvSpPr>
            <p:cNvPr id="144" name="Google Shape;144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6"/>
          <p:cNvSpPr txBox="1"/>
          <p:nvPr/>
        </p:nvSpPr>
        <p:spPr>
          <a:xfrm>
            <a:off x="3406676" y="383756"/>
            <a:ext cx="1147464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SCOPE &amp; REFERENCES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7641" y="2577618"/>
            <a:ext cx="7772913" cy="431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more features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Improve accuracy and performance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 more users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mobile application support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Connect with more external services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Deploy for real-world use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147" name="Google Shape;147;p16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48" name="Google Shape;148;p16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" name="Google Shape;151;p16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2" name="Google Shape;152;p16"/>
          <p:cNvSpPr txBox="1"/>
          <p:nvPr/>
        </p:nvSpPr>
        <p:spPr>
          <a:xfrm>
            <a:off x="9486387" y="2577618"/>
            <a:ext cx="7772913" cy="431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References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Datasets: [Dataset name + source]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Research: [Paper/article name]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Technologies: [Documentation/resources]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APIs: [API name/source]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Other Resources: [Relevant links]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6793950" y="135950"/>
            <a:ext cx="1259674" cy="1259478"/>
          </a:xfrm>
          <a:custGeom>
            <a:rect b="b" l="l" r="r" t="t"/>
            <a:pathLst>
              <a:path extrusionOk="0" h="1259478" w="1259674">
                <a:moveTo>
                  <a:pt x="0" y="0"/>
                </a:moveTo>
                <a:lnTo>
                  <a:pt x="1259674" y="0"/>
                </a:lnTo>
                <a:lnTo>
                  <a:pt x="1259674" y="1259478"/>
                </a:lnTo>
                <a:lnTo>
                  <a:pt x="0" y="125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90299" t="-5830"/>
            </a:stretch>
          </a:blipFill>
          <a:ln>
            <a:noFill/>
          </a:ln>
        </p:spPr>
      </p:sp>
      <p:sp>
        <p:nvSpPr>
          <p:cNvPr id="154" name="Google Shape;154;p16"/>
          <p:cNvSpPr/>
          <p:nvPr/>
        </p:nvSpPr>
        <p:spPr>
          <a:xfrm>
            <a:off x="5242694" y="1637105"/>
            <a:ext cx="7187454" cy="7186335"/>
          </a:xfrm>
          <a:custGeom>
            <a:rect b="b" l="l" r="r" t="t"/>
            <a:pathLst>
              <a:path extrusionOk="0" h="7186335" w="7187454">
                <a:moveTo>
                  <a:pt x="0" y="0"/>
                </a:moveTo>
                <a:lnTo>
                  <a:pt x="7187454" y="0"/>
                </a:lnTo>
                <a:lnTo>
                  <a:pt x="7187454" y="7186335"/>
                </a:lnTo>
                <a:lnTo>
                  <a:pt x="0" y="7186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-90299" t="-583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1436F"/>
            </a:solidFill>
            <a:ln>
              <a:noFill/>
            </a:ln>
          </p:spPr>
        </p:sp>
        <p:sp>
          <p:nvSpPr>
            <p:cNvPr id="161" name="Google Shape;161;p1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4095304" y="389964"/>
            <a:ext cx="1009739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IMPORTANT INSTRUCTIONS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7641" y="2365142"/>
            <a:ext cx="15699900" cy="4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Maximum </a:t>
            </a:r>
            <a:r>
              <a:rPr lang="en-US" sz="3399"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slides only (excluding this slide)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 not change slide order or headings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Avoid long paragraphs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bullets, diagrams, images, flowcharts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PPT must be original work of the team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File name format: TeamName_Genesis2.0_FE/SE/TE/BE/MCA</a:t>
            </a: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65" name="Google Shape;165;p17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" name="Google Shape;168;p17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9" name="Google Shape;169;p17"/>
          <p:cNvSpPr/>
          <p:nvPr/>
        </p:nvSpPr>
        <p:spPr>
          <a:xfrm>
            <a:off x="16793950" y="135950"/>
            <a:ext cx="1259674" cy="1259478"/>
          </a:xfrm>
          <a:custGeom>
            <a:rect b="b" l="l" r="r" t="t"/>
            <a:pathLst>
              <a:path extrusionOk="0" h="1259478" w="1259674">
                <a:moveTo>
                  <a:pt x="0" y="0"/>
                </a:moveTo>
                <a:lnTo>
                  <a:pt x="1259674" y="0"/>
                </a:lnTo>
                <a:lnTo>
                  <a:pt x="1259674" y="1259478"/>
                </a:lnTo>
                <a:lnTo>
                  <a:pt x="0" y="125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90299" t="-5830"/>
            </a:stretch>
          </a:blipFill>
          <a:ln>
            <a:noFill/>
          </a:ln>
        </p:spPr>
      </p:sp>
      <p:sp>
        <p:nvSpPr>
          <p:cNvPr id="170" name="Google Shape;170;p17"/>
          <p:cNvSpPr/>
          <p:nvPr/>
        </p:nvSpPr>
        <p:spPr>
          <a:xfrm>
            <a:off x="5242694" y="1637105"/>
            <a:ext cx="7187454" cy="7186335"/>
          </a:xfrm>
          <a:custGeom>
            <a:rect b="b" l="l" r="r" t="t"/>
            <a:pathLst>
              <a:path extrusionOk="0" h="7186335" w="7187454">
                <a:moveTo>
                  <a:pt x="0" y="0"/>
                </a:moveTo>
                <a:lnTo>
                  <a:pt x="7187454" y="0"/>
                </a:lnTo>
                <a:lnTo>
                  <a:pt x="7187454" y="7186335"/>
                </a:lnTo>
                <a:lnTo>
                  <a:pt x="0" y="7186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-90299" t="-583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